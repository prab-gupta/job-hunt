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 I want to walk you through. Eight weeks from a blank page to a live tool the operations team used, then a handover pack. I will go in your order: the mess, the functional architecture, how I built it with agents, what I put in front of people, where I said no, and what I handed over. Stop me anywhere. The slide I most want you to stop me on is the decision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who. I have worked inside eight European companies in about three years, remote and on site. FlowSpace, a London workspace marketplace, is the longest and most hands-on: I took over a live product, helped migrate it off a legacy stack onto Next.js and Laravel while members kept booking, and then built the AI listing pipeline I will show you. Before that: a CV-parsing pipeline for UltraStrategy in France, a client platform for Urlink in Barcelona where I was both project manager and builder, and search automations for Get2Germany in Berlin. The pattern is the same every time: a business that already runs, an administrative process nobody wrote down, and something working in front of them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where I have worked, newest first, in case it is useful to have on screen. FlowSpace is the anchor: two and a half years as lead developer, the migration and the AI work. Around it, shorter engagements where I went into someone else's product: Urlink as project manager and builder, UltraStrategy for the CV pipeline, Qomodo and Get2Germany for dashboards and search automations, Clubee for API integration and QA, Tractionboard as my first internship. No computer science degree; the shipped work carries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FlowSpace lists flexible office space. Operators and brokers send availability in whatever format they have: a brochure PDF, a Google Sheet, an Excel workbook on SharePoint, a pitch deck, an email, or just their website. Someone in operations opened each one, found the building, typed about forty fields, found five photos, and built the offices table. Thirty to forty-five minutes when nothing went wrong. The internal availability sheet aggregated about thirty feeds and had 812 available buildings not yet on the platform. Sitting with that sheet is where the real findings came from. Broker feeds drift house numbers within a street. Postcodes are dead. The same suite arrives under four broker names with slightly different prices. That shaped the design more than any model choice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document I wrote before the TypeScript build. Seven stages. Sources come in any shape. Ingest classifies by bytes, not by file name, because a link labelled brochure is often a floor plan or a licence page, and it follows the row's own links two levels deep with hard caps on fetches, size and time. Extraction is a Claude call against a fixed schema, Haiku by default because it was good enough and cheap, Sonnet on a switch when a source is hard. Build is where the model stops being trusted: every value is coerced against a spec derived from the production database, and anything from the source sheet stays byte-exact; if the model disagrees with the sheet, that becomes a flag on the card, not a substitution. Then we check prod: is this building already live? That decides update versus create. Then a person sees a card and decides. Then a two-phase push to the FlowSpace API. Four actors, three rules. Everything else in the project is an implementation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surfaces. On the left, the chat card: name a building, attach the brochure or paste the sheet link, and you get a card you can edit. Red chips are amenities the model found that our catalogue does not have; they stay red rather than being forced into the nearest match. Dry-run shows the exact API calls without sending anything. On the right, the batch checkpoint for a whole broker workbook. Each building carries its checks before drafting: already live on production, already drafted under another broker's name, a dead postcode, an operator note saying do not list. The reviewer resolves these first. Both screens exist because the first version of review, a separate page, was slower than reviewing inside the conversation, so I removed it after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stop me anywhere, stop me here. The obvious alternative was auto-publish, and the volume argument for it is real: eight hundred buildings waiting. I kept three gates closed by default. Dry-run is on unless you switch it off, and it shows you the exact calls that would be made. Every card needs a person to press Send. The batch auto-push exists, but behind three separate switches, and it ships off. The reason is what a wrong listing costs: a wrong price or a wrong address goes public under an operator's brand, and the inputs come from thirty feeds I had already caught drifting house numbers. The cost is honest: over nine hundred drafts, a hundred and fourteen live. What would change my mind is data, not confidence. I built a correction log that records the AI draft against the human's final edit at push time. When a field shows zero corrections over a few hundred pushes, that field earns auto-publish. Per field, not globally. There are four more decisions on the right if you would rather pull on one of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first. Second of July, a Python prototype of the pipeline. Eighth of July, I started the TypeScript app that became the product. Twentieth, live on Vercel. Twenty-ninth, the batch flow passed an acceptance run on a real broker workbook: twelve of twelve buildings, sixty-five photos verified by downloading every one. Thirty-first, the handover pack. Thirteenth of August, the backlog consolidated. One engineer, using coding agents all day. How: agents are routed by cost. A cheap model finds files and makes small edits, a mid-tier model drafts and reviews, the top model only for architecture and anything touching production data. My standing rules live in hooks so I never restate them. I tested against the Python prototype: regenerate its output as fixtures, port until parity is green; that is the twenty parity checks over seventy-seven real listings. For anything on the live push path I never edited the live route: own branch, a forked copy of the route, and shared code changes that are additive only. The lesson I would underline: agents are fast and confident when wrong. When I ran drafting agents in parallel, a parent agent that delegated to children could not tell me whether they had finished. So: one agent per building, and the source of truth is what is on disk, never what the agent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your ad says most teams skip. Saying no, with reasons. Thirty-one units arrived as a code instead of an address. I tried every route to identify them, wrote each one down, and held them back, because a wrong guess publishes a real building under someone else's floor. Twenty-three update candidates turned out to be paired to the wrong live building; they are flagged and were never pushed. For Runway East, seven of ten sites were already on the platform, so I paused them rather than draft duplicates. Nine drafts kept a null tenure because the evidence genuinely did not resolve, and the spec says null means nobody could tell, not nobody looked. Then the handover. On the thirty-first of July I wrote a pack for people who were not in the room: what is done, what is left, how to resume, the defects report for the team that owns the source sheet, the duplicates already live, the open actions with the emails already drafted. Outcome: a hundred and fourteen live, five hundred and seventy-nine proposals waiting on a human, and roughly four hundred and fifty to six hundred and seventy-five hours of re-keying replaced by a few minutes of review per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listing bot is the deepest example, but the loop is the same elsewhere. UltraStrategy in France: recruiters were reading every CV by hand. I built the parsing pipeline into their platform: a candidate uploads a CV, Affinda extracts it, Claude assesses relevance per role type, the result shows in the frontend, and a standardised CV is generated. I kept extraction, assessment and generation as separate steps so each could be checked on its own. FlowSpace, the migration: a live marketplace moving off a legacy stack while members booked every day. The decision you already have from my application: anything still changing synced through the API until cutover, anything frozen went by CSV once, and each entity cut over on its own date instead of one weekend. Urlink in Barcelona: a client with requirements and no spec, so I sat in one seat as project manager and builder. Requirement with the client, then build it. Underneath those: support agents on live data, the OfficeRnD and Nexudus booking integrations, CRM and go-to-market automations, and earlier roles in Germany, Luxembourg and the Netherlands.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change, so you do not have to find it. Two data stores instead of one; they grew from constraints, and every newcomer asks why. The reverse check, production against source, never shipped, because the API I had could search names but not postcodes. The correction log was built and never switched on, so the data I said would loosen the gates was never collected. And a hundred and fourteen live listings still carry an untyped tenure from an early brief error; fixing them is one admin edit each. Then three questions for you, if we have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Every number on the previous slides with the file or commit it comes from, in case you want to pull 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D31"/>
        </a:solidFill>
      </p:bgPr>
    </p:bg>
    <p:spTree>
      <p:nvGrpSpPr>
        <p:cNvPr id="1" name=""/>
        <p:cNvGrpSpPr/>
        <p:nvPr/>
      </p:nvGrpSpPr>
      <p:grpSpPr>
        <a:xfrm>
          <a:off x="0" y="0"/>
          <a:ext cx="0" cy="0"/>
          <a:chOff x="0" y="0"/>
          <a:chExt cx="0" cy="0"/>
        </a:xfrm>
      </p:grpSpPr>
      <p:sp>
        <p:nvSpPr>
          <p:cNvPr id="2" name="Text 0"/>
          <p:cNvSpPr txBox="1"/>
          <p:nvPr/>
        </p:nvSpPr>
        <p:spPr>
          <a:xfrm>
            <a:off x="548640" y="1508760"/>
            <a:ext cx="804672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From broker PDF to live marketplace listing, in one chat</a:t>
            </a:r>
            <a:endParaRPr lang="en-US" sz="4000" dirty="0"/>
          </a:p>
        </p:txBody>
      </p:sp>
      <p:sp>
        <p:nvSpPr>
          <p:cNvPr id="3" name="Text 1"/>
          <p:cNvSpPr txBox="1"/>
          <p:nvPr/>
        </p:nvSpPr>
        <p:spPr>
          <a:xfrm>
            <a:off x="548640" y="2971800"/>
            <a:ext cx="8046720" cy="45720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FlowSpace listing bot  ·  July to August 2026  ·  one engineer plus coding agents</a:t>
            </a:r>
            <a:endParaRPr lang="en-US" sz="1800" dirty="0"/>
          </a:p>
        </p:txBody>
      </p:sp>
      <p:sp>
        <p:nvSpPr>
          <p:cNvPr id="4" name="Text 2"/>
          <p:cNvSpPr txBox="1"/>
          <p:nvPr/>
        </p:nvSpPr>
        <p:spPr>
          <a:xfrm>
            <a:off x="548640" y="4434840"/>
            <a:ext cx="8046720" cy="365760"/>
          </a:xfrm>
          <a:prstGeom prst="rect">
            <a:avLst/>
          </a:prstGeom>
          <a:noFill/>
          <a:ln/>
        </p:spPr>
        <p:txBody>
          <a:bodyPr wrap="square" lIns="0" tIns="0" rIns="0" bIns="0" rtlCol="0" anchor="t"/>
          <a:lstStyle/>
          <a:p>
            <a:pPr algn="l" indent="0" marL="0">
              <a:buNone/>
            </a:pPr>
            <a:r>
              <a:rPr lang="en-US" sz="1200" dirty="0">
                <a:solidFill>
                  <a:srgbClr val="9CA3AF"/>
                </a:solidFill>
                <a:latin typeface="Calibri" pitchFamily="34" charset="0"/>
                <a:ea typeface="Calibri" pitchFamily="34" charset="-122"/>
                <a:cs typeface="Calibri" pitchFamily="34" charset="-120"/>
              </a:rPr>
              <a:t>Prabhavit Gupta  ·  Forward Deployed Engineer conversation with Mainloop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algn="l" indent="0" marL="0">
              <a:buNone/>
            </a:pPr>
            <a:r>
              <a:rPr lang="en-US" sz="2700" b="1" dirty="0">
                <a:solidFill>
                  <a:srgbClr val="1F2937"/>
                </a:solidFill>
                <a:latin typeface="Cambria" pitchFamily="34" charset="0"/>
                <a:ea typeface="Cambria" pitchFamily="34" charset="-122"/>
                <a:cs typeface="Cambria" pitchFamily="34" charset="-120"/>
              </a:rPr>
              <a:t>Eight businesses, seven countries, three years. Same loop each time.</a:t>
            </a:r>
            <a:endParaRPr lang="en-US" sz="2700" dirty="0"/>
          </a:p>
        </p:txBody>
      </p:sp>
      <p:sp>
        <p:nvSpPr>
          <p:cNvPr id="3" name="Shape 1"/>
          <p:cNvSpPr/>
          <p:nvPr/>
        </p:nvSpPr>
        <p:spPr>
          <a:xfrm>
            <a:off x="457200" y="1188720"/>
            <a:ext cx="1097280" cy="566928"/>
          </a:xfrm>
          <a:prstGeom prst="roundRect">
            <a:avLst>
              <a:gd name="adj" fmla="val 12903"/>
            </a:avLst>
          </a:prstGeom>
          <a:solidFill>
            <a:srgbClr val="F3F4F6"/>
          </a:solidFill>
          <a:ln/>
        </p:spPr>
      </p:sp>
      <p:sp>
        <p:nvSpPr>
          <p:cNvPr id="4" name="Text 2"/>
          <p:cNvSpPr txBox="1"/>
          <p:nvPr/>
        </p:nvSpPr>
        <p:spPr>
          <a:xfrm>
            <a:off x="49377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UK</a:t>
            </a:r>
            <a:endParaRPr lang="en-US" sz="1100" dirty="0"/>
          </a:p>
        </p:txBody>
      </p:sp>
      <p:sp>
        <p:nvSpPr>
          <p:cNvPr id="5" name="Text 3"/>
          <p:cNvSpPr txBox="1"/>
          <p:nvPr/>
        </p:nvSpPr>
        <p:spPr>
          <a:xfrm>
            <a:off x="49377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FlowSpace</a:t>
            </a:r>
            <a:endParaRPr lang="en-US" sz="1050" dirty="0"/>
          </a:p>
        </p:txBody>
      </p:sp>
      <p:sp>
        <p:nvSpPr>
          <p:cNvPr id="6" name="Shape 4"/>
          <p:cNvSpPr/>
          <p:nvPr/>
        </p:nvSpPr>
        <p:spPr>
          <a:xfrm>
            <a:off x="1645920" y="1188720"/>
            <a:ext cx="1097280" cy="566928"/>
          </a:xfrm>
          <a:prstGeom prst="roundRect">
            <a:avLst>
              <a:gd name="adj" fmla="val 12903"/>
            </a:avLst>
          </a:prstGeom>
          <a:solidFill>
            <a:srgbClr val="F3F4F6"/>
          </a:solidFill>
          <a:ln/>
        </p:spPr>
      </p:sp>
      <p:sp>
        <p:nvSpPr>
          <p:cNvPr id="7" name="Text 5"/>
          <p:cNvSpPr txBox="1"/>
          <p:nvPr/>
        </p:nvSpPr>
        <p:spPr>
          <a:xfrm>
            <a:off x="168249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Spain</a:t>
            </a:r>
            <a:endParaRPr lang="en-US" sz="1100" dirty="0"/>
          </a:p>
        </p:txBody>
      </p:sp>
      <p:sp>
        <p:nvSpPr>
          <p:cNvPr id="8" name="Text 6"/>
          <p:cNvSpPr txBox="1"/>
          <p:nvPr/>
        </p:nvSpPr>
        <p:spPr>
          <a:xfrm>
            <a:off x="168249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Urlink</a:t>
            </a:r>
            <a:endParaRPr lang="en-US" sz="1050" dirty="0"/>
          </a:p>
        </p:txBody>
      </p:sp>
      <p:sp>
        <p:nvSpPr>
          <p:cNvPr id="9" name="Shape 7"/>
          <p:cNvSpPr/>
          <p:nvPr/>
        </p:nvSpPr>
        <p:spPr>
          <a:xfrm>
            <a:off x="2834640" y="1188720"/>
            <a:ext cx="1097280" cy="566928"/>
          </a:xfrm>
          <a:prstGeom prst="roundRect">
            <a:avLst>
              <a:gd name="adj" fmla="val 12903"/>
            </a:avLst>
          </a:prstGeom>
          <a:solidFill>
            <a:srgbClr val="F3F4F6"/>
          </a:solidFill>
          <a:ln/>
        </p:spPr>
      </p:sp>
      <p:sp>
        <p:nvSpPr>
          <p:cNvPr id="10" name="Text 8"/>
          <p:cNvSpPr txBox="1"/>
          <p:nvPr/>
        </p:nvSpPr>
        <p:spPr>
          <a:xfrm>
            <a:off x="287121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France</a:t>
            </a:r>
            <a:endParaRPr lang="en-US" sz="1100" dirty="0"/>
          </a:p>
        </p:txBody>
      </p:sp>
      <p:sp>
        <p:nvSpPr>
          <p:cNvPr id="11" name="Text 9"/>
          <p:cNvSpPr txBox="1"/>
          <p:nvPr/>
        </p:nvSpPr>
        <p:spPr>
          <a:xfrm>
            <a:off x="287121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UltraStrategy</a:t>
            </a:r>
            <a:endParaRPr lang="en-US" sz="1050" dirty="0"/>
          </a:p>
        </p:txBody>
      </p:sp>
      <p:sp>
        <p:nvSpPr>
          <p:cNvPr id="12" name="Shape 10"/>
          <p:cNvSpPr/>
          <p:nvPr/>
        </p:nvSpPr>
        <p:spPr>
          <a:xfrm>
            <a:off x="4023360" y="1188720"/>
            <a:ext cx="1097280" cy="566928"/>
          </a:xfrm>
          <a:prstGeom prst="roundRect">
            <a:avLst>
              <a:gd name="adj" fmla="val 12903"/>
            </a:avLst>
          </a:prstGeom>
          <a:solidFill>
            <a:srgbClr val="F3F4F6"/>
          </a:solidFill>
          <a:ln/>
        </p:spPr>
      </p:sp>
      <p:sp>
        <p:nvSpPr>
          <p:cNvPr id="13" name="Text 11"/>
          <p:cNvSpPr txBox="1"/>
          <p:nvPr/>
        </p:nvSpPr>
        <p:spPr>
          <a:xfrm>
            <a:off x="405993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Italy</a:t>
            </a:r>
            <a:endParaRPr lang="en-US" sz="1100" dirty="0"/>
          </a:p>
        </p:txBody>
      </p:sp>
      <p:sp>
        <p:nvSpPr>
          <p:cNvPr id="14" name="Text 12"/>
          <p:cNvSpPr txBox="1"/>
          <p:nvPr/>
        </p:nvSpPr>
        <p:spPr>
          <a:xfrm>
            <a:off x="405993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Qomodo</a:t>
            </a:r>
            <a:endParaRPr lang="en-US" sz="1050" dirty="0"/>
          </a:p>
        </p:txBody>
      </p:sp>
      <p:sp>
        <p:nvSpPr>
          <p:cNvPr id="15" name="Shape 13"/>
          <p:cNvSpPr/>
          <p:nvPr/>
        </p:nvSpPr>
        <p:spPr>
          <a:xfrm>
            <a:off x="5212080" y="1188720"/>
            <a:ext cx="1097280" cy="566928"/>
          </a:xfrm>
          <a:prstGeom prst="roundRect">
            <a:avLst>
              <a:gd name="adj" fmla="val 12903"/>
            </a:avLst>
          </a:prstGeom>
          <a:solidFill>
            <a:srgbClr val="F3F4F6"/>
          </a:solidFill>
          <a:ln/>
        </p:spPr>
      </p:sp>
      <p:sp>
        <p:nvSpPr>
          <p:cNvPr id="16" name="Text 14"/>
          <p:cNvSpPr txBox="1"/>
          <p:nvPr/>
        </p:nvSpPr>
        <p:spPr>
          <a:xfrm>
            <a:off x="524865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Germany</a:t>
            </a:r>
            <a:endParaRPr lang="en-US" sz="1100" dirty="0"/>
          </a:p>
        </p:txBody>
      </p:sp>
      <p:sp>
        <p:nvSpPr>
          <p:cNvPr id="17" name="Text 15"/>
          <p:cNvSpPr txBox="1"/>
          <p:nvPr/>
        </p:nvSpPr>
        <p:spPr>
          <a:xfrm>
            <a:off x="524865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Get2Germany</a:t>
            </a:r>
            <a:endParaRPr lang="en-US" sz="1050" dirty="0"/>
          </a:p>
        </p:txBody>
      </p:sp>
      <p:sp>
        <p:nvSpPr>
          <p:cNvPr id="18" name="Shape 16"/>
          <p:cNvSpPr/>
          <p:nvPr/>
        </p:nvSpPr>
        <p:spPr>
          <a:xfrm>
            <a:off x="6400800" y="1188720"/>
            <a:ext cx="1097280" cy="566928"/>
          </a:xfrm>
          <a:prstGeom prst="roundRect">
            <a:avLst>
              <a:gd name="adj" fmla="val 12903"/>
            </a:avLst>
          </a:prstGeom>
          <a:solidFill>
            <a:srgbClr val="F3F4F6"/>
          </a:solidFill>
          <a:ln/>
        </p:spPr>
      </p:sp>
      <p:sp>
        <p:nvSpPr>
          <p:cNvPr id="19" name="Text 17"/>
          <p:cNvSpPr txBox="1"/>
          <p:nvPr/>
        </p:nvSpPr>
        <p:spPr>
          <a:xfrm>
            <a:off x="643737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Luxembourg</a:t>
            </a:r>
            <a:endParaRPr lang="en-US" sz="1100" dirty="0"/>
          </a:p>
        </p:txBody>
      </p:sp>
      <p:sp>
        <p:nvSpPr>
          <p:cNvPr id="20" name="Text 18"/>
          <p:cNvSpPr txBox="1"/>
          <p:nvPr/>
        </p:nvSpPr>
        <p:spPr>
          <a:xfrm>
            <a:off x="643737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Clubee</a:t>
            </a:r>
            <a:endParaRPr lang="en-US" sz="1050" dirty="0"/>
          </a:p>
        </p:txBody>
      </p:sp>
      <p:sp>
        <p:nvSpPr>
          <p:cNvPr id="21" name="Shape 19"/>
          <p:cNvSpPr/>
          <p:nvPr/>
        </p:nvSpPr>
        <p:spPr>
          <a:xfrm>
            <a:off x="7589520" y="1188720"/>
            <a:ext cx="1097280" cy="566928"/>
          </a:xfrm>
          <a:prstGeom prst="roundRect">
            <a:avLst>
              <a:gd name="adj" fmla="val 12903"/>
            </a:avLst>
          </a:prstGeom>
          <a:solidFill>
            <a:srgbClr val="F3F4F6"/>
          </a:solidFill>
          <a:ln/>
        </p:spPr>
      </p:sp>
      <p:sp>
        <p:nvSpPr>
          <p:cNvPr id="22" name="Text 20"/>
          <p:cNvSpPr txBox="1"/>
          <p:nvPr/>
        </p:nvSpPr>
        <p:spPr>
          <a:xfrm>
            <a:off x="7626096" y="1234440"/>
            <a:ext cx="1024128" cy="237744"/>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Netherlands</a:t>
            </a:r>
            <a:endParaRPr lang="en-US" sz="1100" dirty="0"/>
          </a:p>
        </p:txBody>
      </p:sp>
      <p:sp>
        <p:nvSpPr>
          <p:cNvPr id="23" name="Text 21"/>
          <p:cNvSpPr txBox="1"/>
          <p:nvPr/>
        </p:nvSpPr>
        <p:spPr>
          <a:xfrm>
            <a:off x="7626096" y="1472184"/>
            <a:ext cx="1024128" cy="237744"/>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Tractionboard</a:t>
            </a:r>
            <a:endParaRPr lang="en-US" sz="1050" dirty="0"/>
          </a:p>
        </p:txBody>
      </p:sp>
      <p:sp>
        <p:nvSpPr>
          <p:cNvPr id="24" name="Shape 22"/>
          <p:cNvSpPr/>
          <p:nvPr/>
        </p:nvSpPr>
        <p:spPr>
          <a:xfrm>
            <a:off x="457200" y="1965960"/>
            <a:ext cx="2621585" cy="1600200"/>
          </a:xfrm>
          <a:prstGeom prst="roundRect">
            <a:avLst>
              <a:gd name="adj" fmla="val 4571"/>
            </a:avLst>
          </a:prstGeom>
          <a:solidFill>
            <a:srgbClr val="F3F4F6"/>
          </a:solidFill>
          <a:ln/>
        </p:spPr>
      </p:sp>
      <p:sp>
        <p:nvSpPr>
          <p:cNvPr id="25" name="Shape 23"/>
          <p:cNvSpPr/>
          <p:nvPr/>
        </p:nvSpPr>
        <p:spPr>
          <a:xfrm>
            <a:off x="621792" y="2130552"/>
            <a:ext cx="347472" cy="347472"/>
          </a:xfrm>
          <a:prstGeom prst="ellipse">
            <a:avLst/>
          </a:prstGeom>
          <a:solidFill>
            <a:srgbClr val="0F766E"/>
          </a:solidFill>
          <a:ln/>
        </p:spPr>
      </p:sp>
      <p:sp>
        <p:nvSpPr>
          <p:cNvPr id="26" name="Text 24"/>
          <p:cNvSpPr txBox="1"/>
          <p:nvPr/>
        </p:nvSpPr>
        <p:spPr>
          <a:xfrm>
            <a:off x="621792" y="21305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7" name="Text 25"/>
          <p:cNvSpPr txBox="1"/>
          <p:nvPr/>
        </p:nvSpPr>
        <p:spPr>
          <a:xfrm>
            <a:off x="1078992" y="2112264"/>
            <a:ext cx="1835201" cy="45720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Understand the running business</a:t>
            </a:r>
            <a:endParaRPr lang="en-US" sz="1200" dirty="0"/>
          </a:p>
        </p:txBody>
      </p:sp>
      <p:sp>
        <p:nvSpPr>
          <p:cNvPr id="28" name="Text 26"/>
          <p:cNvSpPr txBox="1"/>
          <p:nvPr/>
        </p:nvSpPr>
        <p:spPr>
          <a:xfrm>
            <a:off x="621792" y="2624328"/>
            <a:ext cx="2292401" cy="77724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Take over a live product, sit with the people doing the work, map how it really runs.</a:t>
            </a:r>
            <a:endParaRPr lang="en-US" sz="1100" dirty="0"/>
          </a:p>
        </p:txBody>
      </p:sp>
      <p:sp>
        <p:nvSpPr>
          <p:cNvPr id="29" name="Shape 27"/>
          <p:cNvSpPr/>
          <p:nvPr/>
        </p:nvSpPr>
        <p:spPr>
          <a:xfrm>
            <a:off x="3261665" y="1965960"/>
            <a:ext cx="2621585" cy="1600200"/>
          </a:xfrm>
          <a:prstGeom prst="roundRect">
            <a:avLst>
              <a:gd name="adj" fmla="val 4571"/>
            </a:avLst>
          </a:prstGeom>
          <a:solidFill>
            <a:srgbClr val="F3F4F6"/>
          </a:solidFill>
          <a:ln/>
        </p:spPr>
      </p:sp>
      <p:sp>
        <p:nvSpPr>
          <p:cNvPr id="30" name="Shape 28"/>
          <p:cNvSpPr/>
          <p:nvPr/>
        </p:nvSpPr>
        <p:spPr>
          <a:xfrm>
            <a:off x="3426257" y="2130552"/>
            <a:ext cx="347472" cy="347472"/>
          </a:xfrm>
          <a:prstGeom prst="ellipse">
            <a:avLst/>
          </a:prstGeom>
          <a:solidFill>
            <a:srgbClr val="0F766E"/>
          </a:solidFill>
          <a:ln/>
        </p:spPr>
      </p:sp>
      <p:sp>
        <p:nvSpPr>
          <p:cNvPr id="31" name="Text 29"/>
          <p:cNvSpPr txBox="1"/>
          <p:nvPr/>
        </p:nvSpPr>
        <p:spPr>
          <a:xfrm>
            <a:off x="3426257" y="21305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2" name="Text 30"/>
          <p:cNvSpPr txBox="1"/>
          <p:nvPr/>
        </p:nvSpPr>
        <p:spPr>
          <a:xfrm>
            <a:off x="3883457" y="2112264"/>
            <a:ext cx="1835201" cy="45720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Find the admin that eats time</a:t>
            </a:r>
            <a:endParaRPr lang="en-US" sz="1200" dirty="0"/>
          </a:p>
        </p:txBody>
      </p:sp>
      <p:sp>
        <p:nvSpPr>
          <p:cNvPr id="33" name="Text 31"/>
          <p:cNvSpPr txBox="1"/>
          <p:nvPr/>
        </p:nvSpPr>
        <p:spPr>
          <a:xfrm>
            <a:off x="3426257" y="2624328"/>
            <a:ext cx="2292401" cy="77724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Re-keyed listings, hand-read CVs, manual data migration: where the hours go.</a:t>
            </a:r>
            <a:endParaRPr lang="en-US" sz="1100" dirty="0"/>
          </a:p>
        </p:txBody>
      </p:sp>
      <p:sp>
        <p:nvSpPr>
          <p:cNvPr id="34" name="Shape 32"/>
          <p:cNvSpPr/>
          <p:nvPr/>
        </p:nvSpPr>
        <p:spPr>
          <a:xfrm>
            <a:off x="6066130" y="1965960"/>
            <a:ext cx="2621585" cy="1600200"/>
          </a:xfrm>
          <a:prstGeom prst="roundRect">
            <a:avLst>
              <a:gd name="adj" fmla="val 4571"/>
            </a:avLst>
          </a:prstGeom>
          <a:solidFill>
            <a:srgbClr val="F3F4F6"/>
          </a:solidFill>
          <a:ln/>
        </p:spPr>
      </p:sp>
      <p:sp>
        <p:nvSpPr>
          <p:cNvPr id="35" name="Shape 33"/>
          <p:cNvSpPr/>
          <p:nvPr/>
        </p:nvSpPr>
        <p:spPr>
          <a:xfrm>
            <a:off x="6230722" y="2130552"/>
            <a:ext cx="347472" cy="347472"/>
          </a:xfrm>
          <a:prstGeom prst="ellipse">
            <a:avLst/>
          </a:prstGeom>
          <a:solidFill>
            <a:srgbClr val="0F766E"/>
          </a:solidFill>
          <a:ln/>
        </p:spPr>
      </p:sp>
      <p:sp>
        <p:nvSpPr>
          <p:cNvPr id="36" name="Text 34"/>
          <p:cNvSpPr txBox="1"/>
          <p:nvPr/>
        </p:nvSpPr>
        <p:spPr>
          <a:xfrm>
            <a:off x="6230722" y="21305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7" name="Text 35"/>
          <p:cNvSpPr txBox="1"/>
          <p:nvPr/>
        </p:nvSpPr>
        <p:spPr>
          <a:xfrm>
            <a:off x="6687922" y="2112264"/>
            <a:ext cx="1835201" cy="45720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Build with AI, hand it over</a:t>
            </a:r>
            <a:endParaRPr lang="en-US" sz="1200" dirty="0"/>
          </a:p>
        </p:txBody>
      </p:sp>
      <p:sp>
        <p:nvSpPr>
          <p:cNvPr id="38" name="Text 36"/>
          <p:cNvSpPr txBox="1"/>
          <p:nvPr/>
        </p:nvSpPr>
        <p:spPr>
          <a:xfrm>
            <a:off x="6230722" y="2624328"/>
            <a:ext cx="2292401" cy="777240"/>
          </a:xfrm>
          <a:prstGeom prst="rect">
            <a:avLst/>
          </a:prstGeom>
          <a:noFill/>
          <a:ln/>
        </p:spPr>
        <p:txBody>
          <a:bodyPr wrap="square" lIns="0" tIns="0" rIns="0" bIns="0" rtlCol="0" anchor="t"/>
          <a:lstStyle/>
          <a:p>
            <a:pPr algn="l" indent="0" marL="0">
              <a:buNone/>
            </a:pPr>
            <a:r>
              <a:rPr lang="en-US" sz="1100" dirty="0">
                <a:solidFill>
                  <a:srgbClr val="1F2937"/>
                </a:solidFill>
                <a:latin typeface="Calibri" pitchFamily="34" charset="0"/>
                <a:ea typeface="Calibri" pitchFamily="34" charset="-122"/>
                <a:cs typeface="Calibri" pitchFamily="34" charset="-120"/>
              </a:rPr>
              <a:t>Working in front of people in weeks, then a pack the next team can run without me.</a:t>
            </a:r>
            <a:endParaRPr lang="en-US" sz="1100" dirty="0"/>
          </a:p>
        </p:txBody>
      </p:sp>
      <p:sp>
        <p:nvSpPr>
          <p:cNvPr id="39" name="Text 37"/>
          <p:cNvSpPr txBox="1"/>
          <p:nvPr/>
        </p:nvSpPr>
        <p:spPr>
          <a:xfrm>
            <a:off x="457200" y="3794760"/>
            <a:ext cx="8229600" cy="5486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TypeScript / Next.js · Laravel · Python · Claude Code · n8n · Supabase / Postgres      Venice, Italy · EU long-term resident · English C2, Italian B2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Experience, one page</a:t>
            </a:r>
            <a:endParaRPr lang="en-US" sz="2600" dirty="0"/>
          </a:p>
        </p:txBody>
      </p:sp>
      <p:sp>
        <p:nvSpPr>
          <p:cNvPr id="3" name="Shape 1"/>
          <p:cNvSpPr/>
          <p:nvPr/>
        </p:nvSpPr>
        <p:spPr>
          <a:xfrm>
            <a:off x="1755648" y="1024128"/>
            <a:ext cx="0" cy="2871216"/>
          </a:xfrm>
          <a:prstGeom prst="line">
            <a:avLst/>
          </a:prstGeom>
          <a:noFill/>
          <a:ln w="19050">
            <a:solidFill>
              <a:srgbClr val="D1D5DB"/>
            </a:solidFill>
            <a:prstDash val="solid"/>
          </a:ln>
        </p:spPr>
      </p:sp>
      <p:sp>
        <p:nvSpPr>
          <p:cNvPr id="4" name="Text 2"/>
          <p:cNvSpPr txBox="1"/>
          <p:nvPr/>
        </p:nvSpPr>
        <p:spPr>
          <a:xfrm>
            <a:off x="457200" y="932688"/>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Mar 2024 – Aug 2026</a:t>
            </a:r>
            <a:endParaRPr lang="en-US" sz="1050" dirty="0"/>
          </a:p>
        </p:txBody>
      </p:sp>
      <p:sp>
        <p:nvSpPr>
          <p:cNvPr id="5" name="Shape 3"/>
          <p:cNvSpPr/>
          <p:nvPr/>
        </p:nvSpPr>
        <p:spPr>
          <a:xfrm>
            <a:off x="1691640" y="969264"/>
            <a:ext cx="128016" cy="128016"/>
          </a:xfrm>
          <a:prstGeom prst="ellipse">
            <a:avLst/>
          </a:prstGeom>
          <a:solidFill>
            <a:srgbClr val="0F766E"/>
          </a:solidFill>
          <a:ln/>
        </p:spPr>
      </p:sp>
      <p:sp>
        <p:nvSpPr>
          <p:cNvPr id="6" name="Text 4"/>
          <p:cNvSpPr txBox="1"/>
          <p:nvPr/>
        </p:nvSpPr>
        <p:spPr>
          <a:xfrm>
            <a:off x="1965960" y="932688"/>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FlowSpace · Lead Developer · London (remote)</a:t>
            </a:r>
            <a:endParaRPr lang="en-US" sz="1100" dirty="0"/>
          </a:p>
        </p:txBody>
      </p:sp>
      <p:sp>
        <p:nvSpPr>
          <p:cNvPr id="7" name="Text 5"/>
          <p:cNvSpPr txBox="1"/>
          <p:nvPr/>
        </p:nvSpPr>
        <p:spPr>
          <a:xfrm>
            <a:off x="1965960" y="1124712"/>
            <a:ext cx="6720840" cy="365760"/>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Live marketplace off a legacy stack onto Next.js + Laravel, 2,000 to 4,500+ users. AI listing bot, 900+ drafts. Support agents on live data. OfficeRnD + Nexudus booking integrations. CRM and GTM automations.</a:t>
            </a:r>
            <a:endParaRPr lang="en-US" sz="950" dirty="0"/>
          </a:p>
        </p:txBody>
      </p:sp>
      <p:sp>
        <p:nvSpPr>
          <p:cNvPr id="8" name="Text 6"/>
          <p:cNvSpPr txBox="1"/>
          <p:nvPr/>
        </p:nvSpPr>
        <p:spPr>
          <a:xfrm>
            <a:off x="457200" y="1499616"/>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Apr – Jul 2025</a:t>
            </a:r>
            <a:endParaRPr lang="en-US" sz="1050" dirty="0"/>
          </a:p>
        </p:txBody>
      </p:sp>
      <p:sp>
        <p:nvSpPr>
          <p:cNvPr id="9" name="Shape 7"/>
          <p:cNvSpPr/>
          <p:nvPr/>
        </p:nvSpPr>
        <p:spPr>
          <a:xfrm>
            <a:off x="1691640" y="1536192"/>
            <a:ext cx="128016" cy="128016"/>
          </a:xfrm>
          <a:prstGeom prst="ellipse">
            <a:avLst/>
          </a:prstGeom>
          <a:solidFill>
            <a:srgbClr val="0F766E"/>
          </a:solidFill>
          <a:ln/>
        </p:spPr>
      </p:sp>
      <p:sp>
        <p:nvSpPr>
          <p:cNvPr id="10" name="Text 8"/>
          <p:cNvSpPr txBox="1"/>
          <p:nvPr/>
        </p:nvSpPr>
        <p:spPr>
          <a:xfrm>
            <a:off x="1965960" y="1499616"/>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Urlink · Project Manager + AI-assisted Developer · Barcelona</a:t>
            </a:r>
            <a:endParaRPr lang="en-US" sz="1100" dirty="0"/>
          </a:p>
        </p:txBody>
      </p:sp>
      <p:sp>
        <p:nvSpPr>
          <p:cNvPr id="11" name="Text 9"/>
          <p:cNvSpPr txBox="1"/>
          <p:nvPr/>
        </p:nvSpPr>
        <p:spPr>
          <a:xfrm>
            <a:off x="1965960" y="1691640"/>
            <a:ext cx="6720840" cy="265176"/>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Built the client platform and its client-driven automations from requirements: Next.js, Supabase, Netlify.</a:t>
            </a:r>
            <a:endParaRPr lang="en-US" sz="950" dirty="0"/>
          </a:p>
        </p:txBody>
      </p:sp>
      <p:sp>
        <p:nvSpPr>
          <p:cNvPr id="12" name="Text 10"/>
          <p:cNvSpPr txBox="1"/>
          <p:nvPr/>
        </p:nvSpPr>
        <p:spPr>
          <a:xfrm>
            <a:off x="457200" y="1956816"/>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Dec 2024 – May 2025</a:t>
            </a:r>
            <a:endParaRPr lang="en-US" sz="1050" dirty="0"/>
          </a:p>
        </p:txBody>
      </p:sp>
      <p:sp>
        <p:nvSpPr>
          <p:cNvPr id="13" name="Shape 11"/>
          <p:cNvSpPr/>
          <p:nvPr/>
        </p:nvSpPr>
        <p:spPr>
          <a:xfrm>
            <a:off x="1691640" y="1993392"/>
            <a:ext cx="128016" cy="128016"/>
          </a:xfrm>
          <a:prstGeom prst="ellipse">
            <a:avLst/>
          </a:prstGeom>
          <a:solidFill>
            <a:srgbClr val="0F766E"/>
          </a:solidFill>
          <a:ln/>
        </p:spPr>
      </p:sp>
      <p:sp>
        <p:nvSpPr>
          <p:cNvPr id="14" name="Text 12"/>
          <p:cNvSpPr txBox="1"/>
          <p:nvPr/>
        </p:nvSpPr>
        <p:spPr>
          <a:xfrm>
            <a:off x="1965960" y="1956816"/>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UltraStrategy · AI Automation Developer · France</a:t>
            </a:r>
            <a:endParaRPr lang="en-US" sz="1100" dirty="0"/>
          </a:p>
        </p:txBody>
      </p:sp>
      <p:sp>
        <p:nvSpPr>
          <p:cNvPr id="15" name="Text 13"/>
          <p:cNvSpPr txBox="1"/>
          <p:nvPr/>
        </p:nvSpPr>
        <p:spPr>
          <a:xfrm>
            <a:off x="1965960" y="2148840"/>
            <a:ext cx="6720840" cy="265176"/>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CV-parsing and profile-assessment pipeline inside their platform: Affinda, Claude API, n8n, Eden AI; standardised Ultra CV output.</a:t>
            </a:r>
            <a:endParaRPr lang="en-US" sz="950" dirty="0"/>
          </a:p>
        </p:txBody>
      </p:sp>
      <p:sp>
        <p:nvSpPr>
          <p:cNvPr id="16" name="Text 14"/>
          <p:cNvSpPr txBox="1"/>
          <p:nvPr/>
        </p:nvSpPr>
        <p:spPr>
          <a:xfrm>
            <a:off x="457200" y="2414016"/>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2024 – Jan 2025</a:t>
            </a:r>
            <a:endParaRPr lang="en-US" sz="1050" dirty="0"/>
          </a:p>
        </p:txBody>
      </p:sp>
      <p:sp>
        <p:nvSpPr>
          <p:cNvPr id="17" name="Shape 15"/>
          <p:cNvSpPr/>
          <p:nvPr/>
        </p:nvSpPr>
        <p:spPr>
          <a:xfrm>
            <a:off x="1691640" y="2450592"/>
            <a:ext cx="128016" cy="128016"/>
          </a:xfrm>
          <a:prstGeom prst="ellipse">
            <a:avLst/>
          </a:prstGeom>
          <a:solidFill>
            <a:srgbClr val="0F766E"/>
          </a:solidFill>
          <a:ln/>
        </p:spPr>
      </p:sp>
      <p:sp>
        <p:nvSpPr>
          <p:cNvPr id="18" name="Text 16"/>
          <p:cNvSpPr txBox="1"/>
          <p:nvPr/>
        </p:nvSpPr>
        <p:spPr>
          <a:xfrm>
            <a:off x="1965960" y="2414016"/>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Qomodo · AI Developer · Milan</a:t>
            </a:r>
            <a:endParaRPr lang="en-US" sz="1100" dirty="0"/>
          </a:p>
        </p:txBody>
      </p:sp>
      <p:sp>
        <p:nvSpPr>
          <p:cNvPr id="19" name="Text 17"/>
          <p:cNvSpPr txBox="1"/>
          <p:nvPr/>
        </p:nvSpPr>
        <p:spPr>
          <a:xfrm>
            <a:off x="1965960" y="2606040"/>
            <a:ext cx="6720840" cy="265176"/>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Branch-management dashboard for companies; Figma designs to working UI.</a:t>
            </a:r>
            <a:endParaRPr lang="en-US" sz="950" dirty="0"/>
          </a:p>
        </p:txBody>
      </p:sp>
      <p:sp>
        <p:nvSpPr>
          <p:cNvPr id="20" name="Text 18"/>
          <p:cNvSpPr txBox="1"/>
          <p:nvPr/>
        </p:nvSpPr>
        <p:spPr>
          <a:xfrm>
            <a:off x="457200" y="2871216"/>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Jan – May 2024</a:t>
            </a:r>
            <a:endParaRPr lang="en-US" sz="1050" dirty="0"/>
          </a:p>
        </p:txBody>
      </p:sp>
      <p:sp>
        <p:nvSpPr>
          <p:cNvPr id="21" name="Shape 19"/>
          <p:cNvSpPr/>
          <p:nvPr/>
        </p:nvSpPr>
        <p:spPr>
          <a:xfrm>
            <a:off x="1691640" y="2907792"/>
            <a:ext cx="128016" cy="128016"/>
          </a:xfrm>
          <a:prstGeom prst="ellipse">
            <a:avLst/>
          </a:prstGeom>
          <a:solidFill>
            <a:srgbClr val="0F766E"/>
          </a:solidFill>
          <a:ln/>
        </p:spPr>
      </p:sp>
      <p:sp>
        <p:nvSpPr>
          <p:cNvPr id="22" name="Text 20"/>
          <p:cNvSpPr txBox="1"/>
          <p:nvPr/>
        </p:nvSpPr>
        <p:spPr>
          <a:xfrm>
            <a:off x="1965960" y="2871216"/>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Get2Germany · Developer + Automation Specialist · Berlin</a:t>
            </a:r>
            <a:endParaRPr lang="en-US" sz="1100" dirty="0"/>
          </a:p>
        </p:txBody>
      </p:sp>
      <p:sp>
        <p:nvSpPr>
          <p:cNvPr id="23" name="Text 21"/>
          <p:cNvSpPr txBox="1"/>
          <p:nvPr/>
        </p:nvSpPr>
        <p:spPr>
          <a:xfrm>
            <a:off x="1965960" y="3063240"/>
            <a:ext cx="6720840" cy="265176"/>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Google API integrations, AI tools that find courses, internships and jobs, database optimisation; n8n.</a:t>
            </a:r>
            <a:endParaRPr lang="en-US" sz="950" dirty="0"/>
          </a:p>
        </p:txBody>
      </p:sp>
      <p:sp>
        <p:nvSpPr>
          <p:cNvPr id="24" name="Text 22"/>
          <p:cNvSpPr txBox="1"/>
          <p:nvPr/>
        </p:nvSpPr>
        <p:spPr>
          <a:xfrm>
            <a:off x="457200" y="3328416"/>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Sep 2023 – Aug 2024</a:t>
            </a:r>
            <a:endParaRPr lang="en-US" sz="1050" dirty="0"/>
          </a:p>
        </p:txBody>
      </p:sp>
      <p:sp>
        <p:nvSpPr>
          <p:cNvPr id="25" name="Shape 23"/>
          <p:cNvSpPr/>
          <p:nvPr/>
        </p:nvSpPr>
        <p:spPr>
          <a:xfrm>
            <a:off x="1691640" y="3364992"/>
            <a:ext cx="128016" cy="128016"/>
          </a:xfrm>
          <a:prstGeom prst="ellipse">
            <a:avLst/>
          </a:prstGeom>
          <a:solidFill>
            <a:srgbClr val="0F766E"/>
          </a:solidFill>
          <a:ln/>
        </p:spPr>
      </p:sp>
      <p:sp>
        <p:nvSpPr>
          <p:cNvPr id="26" name="Text 24"/>
          <p:cNvSpPr txBox="1"/>
          <p:nvPr/>
        </p:nvSpPr>
        <p:spPr>
          <a:xfrm>
            <a:off x="1965960" y="3328416"/>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Clubee · Developer + QA · Luxembourg</a:t>
            </a:r>
            <a:endParaRPr lang="en-US" sz="1100" dirty="0"/>
          </a:p>
        </p:txBody>
      </p:sp>
      <p:sp>
        <p:nvSpPr>
          <p:cNvPr id="27" name="Text 25"/>
          <p:cNvSpPr txBox="1"/>
          <p:nvPr/>
        </p:nvSpPr>
        <p:spPr>
          <a:xfrm>
            <a:off x="1965960" y="3520440"/>
            <a:ext cx="6720840" cy="265176"/>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Clubee API across the frontend, unit testing and QA, shop, domain-integration and federation-dashboard tools.</a:t>
            </a:r>
            <a:endParaRPr lang="en-US" sz="950" dirty="0"/>
          </a:p>
        </p:txBody>
      </p:sp>
      <p:sp>
        <p:nvSpPr>
          <p:cNvPr id="28" name="Text 26"/>
          <p:cNvSpPr txBox="1"/>
          <p:nvPr/>
        </p:nvSpPr>
        <p:spPr>
          <a:xfrm>
            <a:off x="457200" y="3785616"/>
            <a:ext cx="1188720" cy="219456"/>
          </a:xfrm>
          <a:prstGeom prst="rect">
            <a:avLst/>
          </a:prstGeom>
          <a:noFill/>
          <a:ln/>
        </p:spPr>
        <p:txBody>
          <a:bodyPr wrap="square" lIns="0" tIns="0" rIns="0" bIns="0" rtlCol="0" anchor="t"/>
          <a:lstStyle/>
          <a:p>
            <a:pPr algn="l" indent="0" marL="0">
              <a:buNone/>
            </a:pPr>
            <a:r>
              <a:rPr lang="en-US" sz="1050" b="1" dirty="0">
                <a:solidFill>
                  <a:srgbClr val="0F766E"/>
                </a:solidFill>
                <a:latin typeface="Calibri" pitchFamily="34" charset="0"/>
                <a:ea typeface="Calibri" pitchFamily="34" charset="-122"/>
                <a:cs typeface="Calibri" pitchFamily="34" charset="-120"/>
              </a:rPr>
              <a:t>Aug – Oct 2023</a:t>
            </a:r>
            <a:endParaRPr lang="en-US" sz="1050" dirty="0"/>
          </a:p>
        </p:txBody>
      </p:sp>
      <p:sp>
        <p:nvSpPr>
          <p:cNvPr id="29" name="Shape 27"/>
          <p:cNvSpPr/>
          <p:nvPr/>
        </p:nvSpPr>
        <p:spPr>
          <a:xfrm>
            <a:off x="1691640" y="3822192"/>
            <a:ext cx="128016" cy="128016"/>
          </a:xfrm>
          <a:prstGeom prst="ellipse">
            <a:avLst/>
          </a:prstGeom>
          <a:solidFill>
            <a:srgbClr val="0F766E"/>
          </a:solidFill>
          <a:ln/>
        </p:spPr>
      </p:sp>
      <p:sp>
        <p:nvSpPr>
          <p:cNvPr id="30" name="Text 28"/>
          <p:cNvSpPr txBox="1"/>
          <p:nvPr/>
        </p:nvSpPr>
        <p:spPr>
          <a:xfrm>
            <a:off x="1965960" y="3785616"/>
            <a:ext cx="6720840" cy="201168"/>
          </a:xfrm>
          <a:prstGeom prst="rect">
            <a:avLst/>
          </a:prstGeom>
          <a:noFill/>
          <a:ln/>
        </p:spPr>
        <p:txBody>
          <a:bodyPr wrap="square" lIns="0" tIns="0" rIns="0" bIns="0" rtlCol="0" anchor="t"/>
          <a:lstStyle/>
          <a:p>
            <a:pPr algn="l" indent="0" marL="0">
              <a:buNone/>
            </a:pPr>
            <a:r>
              <a:rPr lang="en-US" sz="1100" b="1" dirty="0">
                <a:solidFill>
                  <a:srgbClr val="1F2937"/>
                </a:solidFill>
                <a:latin typeface="Calibri" pitchFamily="34" charset="0"/>
                <a:ea typeface="Calibri" pitchFamily="34" charset="-122"/>
                <a:cs typeface="Calibri" pitchFamily="34" charset="-120"/>
              </a:rPr>
              <a:t>Tractionboard · Developer (internship) · Utrecht</a:t>
            </a:r>
            <a:endParaRPr lang="en-US" sz="1100" dirty="0"/>
          </a:p>
        </p:txBody>
      </p:sp>
      <p:sp>
        <p:nvSpPr>
          <p:cNvPr id="31" name="Text 29"/>
          <p:cNvSpPr txBox="1"/>
          <p:nvPr/>
        </p:nvSpPr>
        <p:spPr>
          <a:xfrm>
            <a:off x="1965960" y="3977640"/>
            <a:ext cx="6720840" cy="265176"/>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OpenAI and Sendgrid integrations, responsive UI, debugging.</a:t>
            </a:r>
            <a:endParaRPr lang="en-US" sz="950" dirty="0"/>
          </a:p>
        </p:txBody>
      </p:sp>
      <p:sp>
        <p:nvSpPr>
          <p:cNvPr id="32" name="Text 30"/>
          <p:cNvSpPr txBox="1"/>
          <p:nvPr/>
        </p:nvSpPr>
        <p:spPr>
          <a:xfrm>
            <a:off x="457200" y="4370832"/>
            <a:ext cx="8229600" cy="36576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Ca' Foscari University of Venice, BA Philosophy, International Studies and Economics, 2020 to 2024  ·  Microsoft Copilot Studio Agent Academy, Microsoft Power Automate, Tray.AI Build Practitioner  ·  Hindi native, English C2, Italian B2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The mess: one listing took 30 to 45 minutes of re-keying</a:t>
            </a:r>
            <a:endParaRPr lang="en-US" sz="2600" dirty="0"/>
          </a:p>
        </p:txBody>
      </p:sp>
      <p:sp>
        <p:nvSpPr>
          <p:cNvPr id="3" name="Text 1"/>
          <p:cNvSpPr txBox="1"/>
          <p:nvPr/>
        </p:nvSpPr>
        <p:spPr>
          <a:xfrm>
            <a:off x="457200" y="1005840"/>
            <a:ext cx="2651760" cy="27432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What arrives</a:t>
            </a:r>
            <a:endParaRPr lang="en-US" sz="1400" dirty="0"/>
          </a:p>
        </p:txBody>
      </p:sp>
      <p:sp>
        <p:nvSpPr>
          <p:cNvPr id="4" name="Shape 2"/>
          <p:cNvSpPr/>
          <p:nvPr/>
        </p:nvSpPr>
        <p:spPr>
          <a:xfrm>
            <a:off x="457200" y="1353312"/>
            <a:ext cx="1280160" cy="530352"/>
          </a:xfrm>
          <a:prstGeom prst="roundRect">
            <a:avLst>
              <a:gd name="adj" fmla="val 13793"/>
            </a:avLst>
          </a:prstGeom>
          <a:solidFill>
            <a:srgbClr val="F3F4F6"/>
          </a:solidFill>
          <a:ln/>
        </p:spPr>
      </p:sp>
      <p:sp>
        <p:nvSpPr>
          <p:cNvPr id="5" name="Text 3"/>
          <p:cNvSpPr txBox="1"/>
          <p:nvPr/>
        </p:nvSpPr>
        <p:spPr>
          <a:xfrm>
            <a:off x="512064" y="1353312"/>
            <a:ext cx="1170432"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Brochure PDF</a:t>
            </a:r>
            <a:endParaRPr lang="en-US" sz="1050" dirty="0"/>
          </a:p>
        </p:txBody>
      </p:sp>
      <p:sp>
        <p:nvSpPr>
          <p:cNvPr id="6" name="Shape 4"/>
          <p:cNvSpPr/>
          <p:nvPr/>
        </p:nvSpPr>
        <p:spPr>
          <a:xfrm>
            <a:off x="1828800" y="1353312"/>
            <a:ext cx="1280160" cy="530352"/>
          </a:xfrm>
          <a:prstGeom prst="roundRect">
            <a:avLst>
              <a:gd name="adj" fmla="val 13793"/>
            </a:avLst>
          </a:prstGeom>
          <a:solidFill>
            <a:srgbClr val="F3F4F6"/>
          </a:solidFill>
          <a:ln/>
        </p:spPr>
      </p:sp>
      <p:sp>
        <p:nvSpPr>
          <p:cNvPr id="7" name="Text 5"/>
          <p:cNvSpPr txBox="1"/>
          <p:nvPr/>
        </p:nvSpPr>
        <p:spPr>
          <a:xfrm>
            <a:off x="1883664" y="1353312"/>
            <a:ext cx="1170432"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Google Sheet</a:t>
            </a:r>
            <a:endParaRPr lang="en-US" sz="1050" dirty="0"/>
          </a:p>
        </p:txBody>
      </p:sp>
      <p:sp>
        <p:nvSpPr>
          <p:cNvPr id="8" name="Shape 6"/>
          <p:cNvSpPr/>
          <p:nvPr/>
        </p:nvSpPr>
        <p:spPr>
          <a:xfrm>
            <a:off x="457200" y="1975104"/>
            <a:ext cx="1280160" cy="530352"/>
          </a:xfrm>
          <a:prstGeom prst="roundRect">
            <a:avLst>
              <a:gd name="adj" fmla="val 13793"/>
            </a:avLst>
          </a:prstGeom>
          <a:solidFill>
            <a:srgbClr val="F3F4F6"/>
          </a:solidFill>
          <a:ln/>
        </p:spPr>
      </p:sp>
      <p:sp>
        <p:nvSpPr>
          <p:cNvPr id="9" name="Text 7"/>
          <p:cNvSpPr txBox="1"/>
          <p:nvPr/>
        </p:nvSpPr>
        <p:spPr>
          <a:xfrm>
            <a:off x="512064" y="1975104"/>
            <a:ext cx="1170432"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xlsx or SharePoint folder</a:t>
            </a:r>
            <a:endParaRPr lang="en-US" sz="1050" dirty="0"/>
          </a:p>
        </p:txBody>
      </p:sp>
      <p:sp>
        <p:nvSpPr>
          <p:cNvPr id="10" name="Shape 8"/>
          <p:cNvSpPr/>
          <p:nvPr/>
        </p:nvSpPr>
        <p:spPr>
          <a:xfrm>
            <a:off x="1828800" y="1975104"/>
            <a:ext cx="1280160" cy="530352"/>
          </a:xfrm>
          <a:prstGeom prst="roundRect">
            <a:avLst>
              <a:gd name="adj" fmla="val 13793"/>
            </a:avLst>
          </a:prstGeom>
          <a:solidFill>
            <a:srgbClr val="F3F4F6"/>
          </a:solidFill>
          <a:ln/>
        </p:spPr>
      </p:sp>
      <p:sp>
        <p:nvSpPr>
          <p:cNvPr id="11" name="Text 9"/>
          <p:cNvSpPr txBox="1"/>
          <p:nvPr/>
        </p:nvSpPr>
        <p:spPr>
          <a:xfrm>
            <a:off x="1883664" y="1975104"/>
            <a:ext cx="1170432"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Pitch deck</a:t>
            </a:r>
            <a:endParaRPr lang="en-US" sz="1050" dirty="0"/>
          </a:p>
        </p:txBody>
      </p:sp>
      <p:sp>
        <p:nvSpPr>
          <p:cNvPr id="12" name="Shape 10"/>
          <p:cNvSpPr/>
          <p:nvPr/>
        </p:nvSpPr>
        <p:spPr>
          <a:xfrm>
            <a:off x="457200" y="2596896"/>
            <a:ext cx="1280160" cy="530352"/>
          </a:xfrm>
          <a:prstGeom prst="roundRect">
            <a:avLst>
              <a:gd name="adj" fmla="val 13793"/>
            </a:avLst>
          </a:prstGeom>
          <a:solidFill>
            <a:srgbClr val="F3F4F6"/>
          </a:solidFill>
          <a:ln/>
        </p:spPr>
      </p:sp>
      <p:sp>
        <p:nvSpPr>
          <p:cNvPr id="13" name="Text 11"/>
          <p:cNvSpPr txBox="1"/>
          <p:nvPr/>
        </p:nvSpPr>
        <p:spPr>
          <a:xfrm>
            <a:off x="512064" y="2596896"/>
            <a:ext cx="1170432"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Availability email (.eml)</a:t>
            </a:r>
            <a:endParaRPr lang="en-US" sz="1050" dirty="0"/>
          </a:p>
        </p:txBody>
      </p:sp>
      <p:sp>
        <p:nvSpPr>
          <p:cNvPr id="14" name="Shape 12"/>
          <p:cNvSpPr/>
          <p:nvPr/>
        </p:nvSpPr>
        <p:spPr>
          <a:xfrm>
            <a:off x="1828800" y="2596896"/>
            <a:ext cx="1280160" cy="530352"/>
          </a:xfrm>
          <a:prstGeom prst="roundRect">
            <a:avLst>
              <a:gd name="adj" fmla="val 13793"/>
            </a:avLst>
          </a:prstGeom>
          <a:solidFill>
            <a:srgbClr val="F3F4F6"/>
          </a:solidFill>
          <a:ln/>
        </p:spPr>
      </p:sp>
      <p:sp>
        <p:nvSpPr>
          <p:cNvPr id="15" name="Text 13"/>
          <p:cNvSpPr txBox="1"/>
          <p:nvPr/>
        </p:nvSpPr>
        <p:spPr>
          <a:xfrm>
            <a:off x="1883664" y="2596896"/>
            <a:ext cx="1170432"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Operator website</a:t>
            </a:r>
            <a:endParaRPr lang="en-US" sz="1050" dirty="0"/>
          </a:p>
        </p:txBody>
      </p:sp>
      <p:sp>
        <p:nvSpPr>
          <p:cNvPr id="16" name="Shape 14"/>
          <p:cNvSpPr/>
          <p:nvPr/>
        </p:nvSpPr>
        <p:spPr>
          <a:xfrm>
            <a:off x="3154680" y="1783080"/>
            <a:ext cx="365760" cy="548640"/>
          </a:xfrm>
          <a:prstGeom prst="chevron">
            <a:avLst/>
          </a:prstGeom>
          <a:solidFill>
            <a:srgbClr val="0F766E"/>
          </a:solidFill>
          <a:ln/>
        </p:spPr>
      </p:sp>
      <p:sp>
        <p:nvSpPr>
          <p:cNvPr id="17" name="Shape 15"/>
          <p:cNvSpPr/>
          <p:nvPr/>
        </p:nvSpPr>
        <p:spPr>
          <a:xfrm>
            <a:off x="3611880" y="1005840"/>
            <a:ext cx="2240280" cy="2103120"/>
          </a:xfrm>
          <a:prstGeom prst="roundRect">
            <a:avLst>
              <a:gd name="adj" fmla="val 3478"/>
            </a:avLst>
          </a:prstGeom>
          <a:solidFill>
            <a:srgbClr val="F3F4F6"/>
          </a:solidFill>
          <a:ln/>
        </p:spPr>
      </p:sp>
      <p:sp>
        <p:nvSpPr>
          <p:cNvPr id="18" name="Text 16"/>
          <p:cNvSpPr txBox="1"/>
          <p:nvPr/>
        </p:nvSpPr>
        <p:spPr>
          <a:xfrm>
            <a:off x="3794760" y="1188720"/>
            <a:ext cx="1874520" cy="173736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Ops opens each one, finds the building, types about 40 fields, sources 5 photos, builds the offices table.</a:t>
            </a:r>
            <a:endParaRPr lang="en-US" sz="1200" dirty="0"/>
          </a:p>
        </p:txBody>
      </p:sp>
      <p:sp>
        <p:nvSpPr>
          <p:cNvPr id="19" name="Shape 17"/>
          <p:cNvSpPr/>
          <p:nvPr/>
        </p:nvSpPr>
        <p:spPr>
          <a:xfrm>
            <a:off x="6035040" y="1005840"/>
            <a:ext cx="2194560" cy="777240"/>
          </a:xfrm>
          <a:prstGeom prst="roundRect">
            <a:avLst>
              <a:gd name="adj" fmla="val 9412"/>
            </a:avLst>
          </a:prstGeom>
          <a:solidFill>
            <a:srgbClr val="F3F4F6"/>
          </a:solidFill>
          <a:ln/>
        </p:spPr>
      </p:sp>
      <p:sp>
        <p:nvSpPr>
          <p:cNvPr id="20" name="Text 18"/>
          <p:cNvSpPr txBox="1"/>
          <p:nvPr/>
        </p:nvSpPr>
        <p:spPr>
          <a:xfrm>
            <a:off x="6126480" y="1060704"/>
            <a:ext cx="2011680" cy="384048"/>
          </a:xfrm>
          <a:prstGeom prst="rect">
            <a:avLst/>
          </a:prstGeom>
          <a:noFill/>
          <a:ln/>
        </p:spPr>
        <p:txBody>
          <a:bodyPr wrap="square" lIns="0" tIns="0" rIns="0" bIns="0" rtlCol="0" anchor="t"/>
          <a:lstStyle/>
          <a:p>
            <a:pPr algn="l" indent="0" marL="0">
              <a:buNone/>
            </a:pPr>
            <a:r>
              <a:rPr lang="en-US" sz="3400" b="1" dirty="0">
                <a:solidFill>
                  <a:srgbClr val="0F766E"/>
                </a:solidFill>
                <a:latin typeface="Calibri" pitchFamily="34" charset="0"/>
                <a:ea typeface="Calibri" pitchFamily="34" charset="-122"/>
                <a:cs typeface="Calibri" pitchFamily="34" charset="-120"/>
              </a:rPr>
              <a:t>~30</a:t>
            </a:r>
            <a:endParaRPr lang="en-US" sz="3400" dirty="0"/>
          </a:p>
        </p:txBody>
      </p:sp>
      <p:sp>
        <p:nvSpPr>
          <p:cNvPr id="21" name="Text 19"/>
          <p:cNvSpPr txBox="1"/>
          <p:nvPr/>
        </p:nvSpPr>
        <p:spPr>
          <a:xfrm>
            <a:off x="6126480" y="1444752"/>
            <a:ext cx="2011680" cy="310896"/>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operator feeds in the internal availability sheet</a:t>
            </a:r>
            <a:endParaRPr lang="en-US" sz="1050" dirty="0"/>
          </a:p>
        </p:txBody>
      </p:sp>
      <p:sp>
        <p:nvSpPr>
          <p:cNvPr id="22" name="Shape 20"/>
          <p:cNvSpPr/>
          <p:nvPr/>
        </p:nvSpPr>
        <p:spPr>
          <a:xfrm>
            <a:off x="6035040" y="1874520"/>
            <a:ext cx="2194560" cy="777240"/>
          </a:xfrm>
          <a:prstGeom prst="roundRect">
            <a:avLst>
              <a:gd name="adj" fmla="val 9412"/>
            </a:avLst>
          </a:prstGeom>
          <a:solidFill>
            <a:srgbClr val="F3F4F6"/>
          </a:solidFill>
          <a:ln/>
        </p:spPr>
      </p:sp>
      <p:sp>
        <p:nvSpPr>
          <p:cNvPr id="23" name="Text 21"/>
          <p:cNvSpPr txBox="1"/>
          <p:nvPr/>
        </p:nvSpPr>
        <p:spPr>
          <a:xfrm>
            <a:off x="6126480" y="1929384"/>
            <a:ext cx="2011680" cy="384048"/>
          </a:xfrm>
          <a:prstGeom prst="rect">
            <a:avLst/>
          </a:prstGeom>
          <a:noFill/>
          <a:ln/>
        </p:spPr>
        <p:txBody>
          <a:bodyPr wrap="square" lIns="0" tIns="0" rIns="0" bIns="0" rtlCol="0" anchor="t"/>
          <a:lstStyle/>
          <a:p>
            <a:pPr algn="l" indent="0" marL="0">
              <a:buNone/>
            </a:pPr>
            <a:r>
              <a:rPr lang="en-US" sz="3400" b="1" dirty="0">
                <a:solidFill>
                  <a:srgbClr val="0F766E"/>
                </a:solidFill>
                <a:latin typeface="Calibri" pitchFamily="34" charset="0"/>
                <a:ea typeface="Calibri" pitchFamily="34" charset="-122"/>
                <a:cs typeface="Calibri" pitchFamily="34" charset="-120"/>
              </a:rPr>
              <a:t>812</a:t>
            </a:r>
            <a:endParaRPr lang="en-US" sz="3400" dirty="0"/>
          </a:p>
        </p:txBody>
      </p:sp>
      <p:sp>
        <p:nvSpPr>
          <p:cNvPr id="24" name="Text 22"/>
          <p:cNvSpPr txBox="1"/>
          <p:nvPr/>
        </p:nvSpPr>
        <p:spPr>
          <a:xfrm>
            <a:off x="6126480" y="2313432"/>
            <a:ext cx="2011680" cy="310896"/>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available buildings not yet on the platform</a:t>
            </a:r>
            <a:endParaRPr lang="en-US" sz="1050" dirty="0"/>
          </a:p>
        </p:txBody>
      </p:sp>
      <p:sp>
        <p:nvSpPr>
          <p:cNvPr id="25" name="Shape 23"/>
          <p:cNvSpPr/>
          <p:nvPr/>
        </p:nvSpPr>
        <p:spPr>
          <a:xfrm>
            <a:off x="6035040" y="2743200"/>
            <a:ext cx="2194560" cy="777240"/>
          </a:xfrm>
          <a:prstGeom prst="roundRect">
            <a:avLst>
              <a:gd name="adj" fmla="val 9412"/>
            </a:avLst>
          </a:prstGeom>
          <a:solidFill>
            <a:srgbClr val="F3F4F6"/>
          </a:solidFill>
          <a:ln/>
        </p:spPr>
      </p:sp>
      <p:sp>
        <p:nvSpPr>
          <p:cNvPr id="26" name="Text 24"/>
          <p:cNvSpPr txBox="1"/>
          <p:nvPr/>
        </p:nvSpPr>
        <p:spPr>
          <a:xfrm>
            <a:off x="6126480" y="2798064"/>
            <a:ext cx="2011680" cy="384048"/>
          </a:xfrm>
          <a:prstGeom prst="rect">
            <a:avLst/>
          </a:prstGeom>
          <a:noFill/>
          <a:ln/>
        </p:spPr>
        <p:txBody>
          <a:bodyPr wrap="square" lIns="0" tIns="0" rIns="0" bIns="0" rtlCol="0" anchor="t"/>
          <a:lstStyle/>
          <a:p>
            <a:pPr algn="l" indent="0" marL="0">
              <a:buNone/>
            </a:pPr>
            <a:r>
              <a:rPr lang="en-US" sz="2600" b="1" dirty="0">
                <a:solidFill>
                  <a:srgbClr val="0F766E"/>
                </a:solidFill>
                <a:latin typeface="Calibri" pitchFamily="34" charset="0"/>
                <a:ea typeface="Calibri" pitchFamily="34" charset="-122"/>
                <a:cs typeface="Calibri" pitchFamily="34" charset="-120"/>
              </a:rPr>
              <a:t>30–45 min</a:t>
            </a:r>
            <a:endParaRPr lang="en-US" sz="2600" dirty="0"/>
          </a:p>
        </p:txBody>
      </p:sp>
      <p:sp>
        <p:nvSpPr>
          <p:cNvPr id="27" name="Text 25"/>
          <p:cNvSpPr txBox="1"/>
          <p:nvPr/>
        </p:nvSpPr>
        <p:spPr>
          <a:xfrm>
            <a:off x="6126480" y="3182112"/>
            <a:ext cx="2011680" cy="310896"/>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per listing by hand, when nothing went wrong</a:t>
            </a:r>
            <a:endParaRPr lang="en-US" sz="1050" dirty="0"/>
          </a:p>
        </p:txBody>
      </p:sp>
      <p:sp>
        <p:nvSpPr>
          <p:cNvPr id="28" name="Text 26"/>
          <p:cNvSpPr txBox="1"/>
          <p:nvPr/>
        </p:nvSpPr>
        <p:spPr>
          <a:xfrm>
            <a:off x="457200" y="3977640"/>
            <a:ext cx="822960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What the feeds hid: house numbers drifting within a street (22 vs 4 City Road), 17 dead or malformed postcodes, the same suite arriving under four broker labels.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500" b="1" dirty="0">
                <a:solidFill>
                  <a:srgbClr val="1F2937"/>
                </a:solidFill>
                <a:latin typeface="Cambria" pitchFamily="34" charset="0"/>
                <a:ea typeface="Cambria" pitchFamily="34" charset="-122"/>
                <a:cs typeface="Cambria" pitchFamily="34" charset="-120"/>
              </a:rPr>
              <a:t>Functional architecture: the flow, the actors, the rules</a:t>
            </a:r>
            <a:endParaRPr lang="en-US" sz="2500" dirty="0"/>
          </a:p>
        </p:txBody>
      </p:sp>
      <p:sp>
        <p:nvSpPr>
          <p:cNvPr id="3" name="Shape 1"/>
          <p:cNvSpPr/>
          <p:nvPr/>
        </p:nvSpPr>
        <p:spPr>
          <a:xfrm>
            <a:off x="457200" y="822960"/>
            <a:ext cx="1691640" cy="1005840"/>
          </a:xfrm>
          <a:prstGeom prst="roundRect">
            <a:avLst>
              <a:gd name="adj" fmla="val 7273"/>
            </a:avLst>
          </a:prstGeom>
          <a:solidFill>
            <a:srgbClr val="F3F4F6"/>
          </a:solidFill>
          <a:ln/>
        </p:spPr>
      </p:sp>
      <p:sp>
        <p:nvSpPr>
          <p:cNvPr id="4" name="Shape 2"/>
          <p:cNvSpPr/>
          <p:nvPr/>
        </p:nvSpPr>
        <p:spPr>
          <a:xfrm>
            <a:off x="548640" y="914400"/>
            <a:ext cx="256032" cy="256032"/>
          </a:xfrm>
          <a:prstGeom prst="ellipse">
            <a:avLst/>
          </a:prstGeom>
          <a:solidFill>
            <a:srgbClr val="0F766E"/>
          </a:solidFill>
          <a:ln/>
        </p:spPr>
      </p:sp>
      <p:sp>
        <p:nvSpPr>
          <p:cNvPr id="5" name="Text 3"/>
          <p:cNvSpPr txBox="1"/>
          <p:nvPr/>
        </p:nvSpPr>
        <p:spPr>
          <a:xfrm>
            <a:off x="548640" y="914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68680" y="896112"/>
            <a:ext cx="118872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Sources</a:t>
            </a:r>
            <a:endParaRPr lang="en-US" sz="1150" dirty="0"/>
          </a:p>
        </p:txBody>
      </p:sp>
      <p:sp>
        <p:nvSpPr>
          <p:cNvPr id="7" name="Text 5"/>
          <p:cNvSpPr txBox="1"/>
          <p:nvPr/>
        </p:nvSpPr>
        <p:spPr>
          <a:xfrm>
            <a:off x="548640" y="1225296"/>
            <a:ext cx="150876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PDF, sheet, xlsx, SharePoint, deck, email, URL</a:t>
            </a:r>
            <a:endParaRPr lang="en-US" sz="950" dirty="0"/>
          </a:p>
        </p:txBody>
      </p:sp>
      <p:sp>
        <p:nvSpPr>
          <p:cNvPr id="8" name="Shape 6"/>
          <p:cNvSpPr/>
          <p:nvPr/>
        </p:nvSpPr>
        <p:spPr>
          <a:xfrm>
            <a:off x="2167128" y="1216152"/>
            <a:ext cx="256032" cy="219456"/>
          </a:xfrm>
          <a:prstGeom prst="rightArrow">
            <a:avLst/>
          </a:prstGeom>
          <a:solidFill>
            <a:srgbClr val="0F766E"/>
          </a:solidFill>
          <a:ln/>
        </p:spPr>
      </p:sp>
      <p:sp>
        <p:nvSpPr>
          <p:cNvPr id="9" name="Shape 7"/>
          <p:cNvSpPr/>
          <p:nvPr/>
        </p:nvSpPr>
        <p:spPr>
          <a:xfrm>
            <a:off x="2441448" y="822960"/>
            <a:ext cx="1691640" cy="1005840"/>
          </a:xfrm>
          <a:prstGeom prst="roundRect">
            <a:avLst>
              <a:gd name="adj" fmla="val 7273"/>
            </a:avLst>
          </a:prstGeom>
          <a:solidFill>
            <a:srgbClr val="F3F4F6"/>
          </a:solidFill>
          <a:ln/>
        </p:spPr>
      </p:sp>
      <p:sp>
        <p:nvSpPr>
          <p:cNvPr id="10" name="Shape 8"/>
          <p:cNvSpPr/>
          <p:nvPr/>
        </p:nvSpPr>
        <p:spPr>
          <a:xfrm>
            <a:off x="2532888" y="914400"/>
            <a:ext cx="256032" cy="256032"/>
          </a:xfrm>
          <a:prstGeom prst="ellipse">
            <a:avLst/>
          </a:prstGeom>
          <a:solidFill>
            <a:srgbClr val="0F766E"/>
          </a:solidFill>
          <a:ln/>
        </p:spPr>
      </p:sp>
      <p:sp>
        <p:nvSpPr>
          <p:cNvPr id="11" name="Text 9"/>
          <p:cNvSpPr txBox="1"/>
          <p:nvPr/>
        </p:nvSpPr>
        <p:spPr>
          <a:xfrm>
            <a:off x="2532888" y="914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2852928" y="896112"/>
            <a:ext cx="118872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Ingest</a:t>
            </a:r>
            <a:endParaRPr lang="en-US" sz="1150" dirty="0"/>
          </a:p>
        </p:txBody>
      </p:sp>
      <p:sp>
        <p:nvSpPr>
          <p:cNvPr id="13" name="Text 11"/>
          <p:cNvSpPr txBox="1"/>
          <p:nvPr/>
        </p:nvSpPr>
        <p:spPr>
          <a:xfrm>
            <a:off x="2532888" y="1225296"/>
            <a:ext cx="150876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classify by magic bytes, not file name; crawl the row's own links, depth 2, 12 fetches max</a:t>
            </a:r>
            <a:endParaRPr lang="en-US" sz="950" dirty="0"/>
          </a:p>
        </p:txBody>
      </p:sp>
      <p:sp>
        <p:nvSpPr>
          <p:cNvPr id="14" name="Shape 12"/>
          <p:cNvSpPr/>
          <p:nvPr/>
        </p:nvSpPr>
        <p:spPr>
          <a:xfrm>
            <a:off x="4151376" y="1216152"/>
            <a:ext cx="256032" cy="219456"/>
          </a:xfrm>
          <a:prstGeom prst="rightArrow">
            <a:avLst/>
          </a:prstGeom>
          <a:solidFill>
            <a:srgbClr val="0F766E"/>
          </a:solidFill>
          <a:ln/>
        </p:spPr>
      </p:sp>
      <p:sp>
        <p:nvSpPr>
          <p:cNvPr id="15" name="Shape 13"/>
          <p:cNvSpPr/>
          <p:nvPr/>
        </p:nvSpPr>
        <p:spPr>
          <a:xfrm>
            <a:off x="4425696" y="822960"/>
            <a:ext cx="1691640" cy="1005840"/>
          </a:xfrm>
          <a:prstGeom prst="roundRect">
            <a:avLst>
              <a:gd name="adj" fmla="val 7273"/>
            </a:avLst>
          </a:prstGeom>
          <a:solidFill>
            <a:srgbClr val="F3F4F6"/>
          </a:solidFill>
          <a:ln/>
        </p:spPr>
      </p:sp>
      <p:sp>
        <p:nvSpPr>
          <p:cNvPr id="16" name="Shape 14"/>
          <p:cNvSpPr/>
          <p:nvPr/>
        </p:nvSpPr>
        <p:spPr>
          <a:xfrm>
            <a:off x="4517136" y="914400"/>
            <a:ext cx="256032" cy="256032"/>
          </a:xfrm>
          <a:prstGeom prst="ellipse">
            <a:avLst/>
          </a:prstGeom>
          <a:solidFill>
            <a:srgbClr val="0F766E"/>
          </a:solidFill>
          <a:ln/>
        </p:spPr>
      </p:sp>
      <p:sp>
        <p:nvSpPr>
          <p:cNvPr id="17" name="Text 15"/>
          <p:cNvSpPr txBox="1"/>
          <p:nvPr/>
        </p:nvSpPr>
        <p:spPr>
          <a:xfrm>
            <a:off x="4517136" y="914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4837176" y="896112"/>
            <a:ext cx="118872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Extract</a:t>
            </a:r>
            <a:endParaRPr lang="en-US" sz="1150" dirty="0"/>
          </a:p>
        </p:txBody>
      </p:sp>
      <p:sp>
        <p:nvSpPr>
          <p:cNvPr id="19" name="Text 17"/>
          <p:cNvSpPr txBox="1"/>
          <p:nvPr/>
        </p:nvSpPr>
        <p:spPr>
          <a:xfrm>
            <a:off x="4517136" y="1225296"/>
            <a:ext cx="150876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Claude Haiku by default, Sonnet on a switch; fixed schema</a:t>
            </a:r>
            <a:endParaRPr lang="en-US" sz="950" dirty="0"/>
          </a:p>
        </p:txBody>
      </p:sp>
      <p:sp>
        <p:nvSpPr>
          <p:cNvPr id="20" name="Shape 18"/>
          <p:cNvSpPr/>
          <p:nvPr/>
        </p:nvSpPr>
        <p:spPr>
          <a:xfrm>
            <a:off x="6135624" y="1216152"/>
            <a:ext cx="256032" cy="219456"/>
          </a:xfrm>
          <a:prstGeom prst="rightArrow">
            <a:avLst/>
          </a:prstGeom>
          <a:solidFill>
            <a:srgbClr val="0F766E"/>
          </a:solidFill>
          <a:ln/>
        </p:spPr>
      </p:sp>
      <p:sp>
        <p:nvSpPr>
          <p:cNvPr id="21" name="Shape 19"/>
          <p:cNvSpPr/>
          <p:nvPr/>
        </p:nvSpPr>
        <p:spPr>
          <a:xfrm>
            <a:off x="6409944" y="822960"/>
            <a:ext cx="1691640" cy="1005840"/>
          </a:xfrm>
          <a:prstGeom prst="roundRect">
            <a:avLst>
              <a:gd name="adj" fmla="val 7273"/>
            </a:avLst>
          </a:prstGeom>
          <a:solidFill>
            <a:srgbClr val="F3F4F6"/>
          </a:solidFill>
          <a:ln/>
        </p:spPr>
      </p:sp>
      <p:sp>
        <p:nvSpPr>
          <p:cNvPr id="22" name="Shape 20"/>
          <p:cNvSpPr/>
          <p:nvPr/>
        </p:nvSpPr>
        <p:spPr>
          <a:xfrm>
            <a:off x="6501384" y="914400"/>
            <a:ext cx="256032" cy="256032"/>
          </a:xfrm>
          <a:prstGeom prst="ellipse">
            <a:avLst/>
          </a:prstGeom>
          <a:solidFill>
            <a:srgbClr val="0F766E"/>
          </a:solidFill>
          <a:ln/>
        </p:spPr>
      </p:sp>
      <p:sp>
        <p:nvSpPr>
          <p:cNvPr id="23" name="Text 21"/>
          <p:cNvSpPr txBox="1"/>
          <p:nvPr/>
        </p:nvSpPr>
        <p:spPr>
          <a:xfrm>
            <a:off x="6501384" y="914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6821424" y="896112"/>
            <a:ext cx="118872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Build</a:t>
            </a:r>
            <a:endParaRPr lang="en-US" sz="1150" dirty="0"/>
          </a:p>
        </p:txBody>
      </p:sp>
      <p:sp>
        <p:nvSpPr>
          <p:cNvPr id="25" name="Text 23"/>
          <p:cNvSpPr txBox="1"/>
          <p:nvPr/>
        </p:nvSpPr>
        <p:spPr>
          <a:xfrm>
            <a:off x="6501384" y="1225296"/>
            <a:ext cx="150876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spec.ts: every value coerced; closed amenity enum; sheet values byte-exact</a:t>
            </a:r>
            <a:endParaRPr lang="en-US" sz="950" dirty="0"/>
          </a:p>
        </p:txBody>
      </p:sp>
      <p:sp>
        <p:nvSpPr>
          <p:cNvPr id="26" name="Shape 24"/>
          <p:cNvSpPr/>
          <p:nvPr/>
        </p:nvSpPr>
        <p:spPr>
          <a:xfrm>
            <a:off x="457200" y="1965960"/>
            <a:ext cx="2560320" cy="1005840"/>
          </a:xfrm>
          <a:prstGeom prst="roundRect">
            <a:avLst>
              <a:gd name="adj" fmla="val 7273"/>
            </a:avLst>
          </a:prstGeom>
          <a:solidFill>
            <a:srgbClr val="F3F4F6"/>
          </a:solidFill>
          <a:ln/>
        </p:spPr>
      </p:sp>
      <p:sp>
        <p:nvSpPr>
          <p:cNvPr id="27" name="Shape 25"/>
          <p:cNvSpPr/>
          <p:nvPr/>
        </p:nvSpPr>
        <p:spPr>
          <a:xfrm>
            <a:off x="548640" y="2057400"/>
            <a:ext cx="256032" cy="256032"/>
          </a:xfrm>
          <a:prstGeom prst="ellipse">
            <a:avLst/>
          </a:prstGeom>
          <a:solidFill>
            <a:srgbClr val="0F766E"/>
          </a:solidFill>
          <a:ln/>
        </p:spPr>
      </p:sp>
      <p:sp>
        <p:nvSpPr>
          <p:cNvPr id="28" name="Text 26"/>
          <p:cNvSpPr txBox="1"/>
          <p:nvPr/>
        </p:nvSpPr>
        <p:spPr>
          <a:xfrm>
            <a:off x="548640" y="2057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txBox="1"/>
          <p:nvPr/>
        </p:nvSpPr>
        <p:spPr>
          <a:xfrm>
            <a:off x="868680" y="2039112"/>
            <a:ext cx="205740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Check prod</a:t>
            </a:r>
            <a:endParaRPr lang="en-US" sz="1150" dirty="0"/>
          </a:p>
        </p:txBody>
      </p:sp>
      <p:sp>
        <p:nvSpPr>
          <p:cNvPr id="30" name="Text 28"/>
          <p:cNvSpPr txBox="1"/>
          <p:nvPr/>
        </p:nvSpPr>
        <p:spPr>
          <a:xfrm>
            <a:off x="548640" y="2368296"/>
            <a:ext cx="237744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exact name, then fuzzy + operator, then postcode; UPDATE or NEW</a:t>
            </a:r>
            <a:endParaRPr lang="en-US" sz="950" dirty="0"/>
          </a:p>
        </p:txBody>
      </p:sp>
      <p:sp>
        <p:nvSpPr>
          <p:cNvPr id="31" name="Shape 29"/>
          <p:cNvSpPr/>
          <p:nvPr/>
        </p:nvSpPr>
        <p:spPr>
          <a:xfrm>
            <a:off x="3035808" y="2359152"/>
            <a:ext cx="256032" cy="219456"/>
          </a:xfrm>
          <a:prstGeom prst="rightArrow">
            <a:avLst/>
          </a:prstGeom>
          <a:solidFill>
            <a:srgbClr val="0F766E"/>
          </a:solidFill>
          <a:ln/>
        </p:spPr>
      </p:sp>
      <p:sp>
        <p:nvSpPr>
          <p:cNvPr id="32" name="Shape 30"/>
          <p:cNvSpPr/>
          <p:nvPr/>
        </p:nvSpPr>
        <p:spPr>
          <a:xfrm>
            <a:off x="3310128" y="1965960"/>
            <a:ext cx="2560320" cy="1005840"/>
          </a:xfrm>
          <a:prstGeom prst="roundRect">
            <a:avLst>
              <a:gd name="adj" fmla="val 7273"/>
            </a:avLst>
          </a:prstGeom>
          <a:solidFill>
            <a:srgbClr val="F3F4F6"/>
          </a:solidFill>
          <a:ln/>
        </p:spPr>
      </p:sp>
      <p:sp>
        <p:nvSpPr>
          <p:cNvPr id="33" name="Shape 31"/>
          <p:cNvSpPr/>
          <p:nvPr/>
        </p:nvSpPr>
        <p:spPr>
          <a:xfrm>
            <a:off x="3401568" y="2057400"/>
            <a:ext cx="256032" cy="256032"/>
          </a:xfrm>
          <a:prstGeom prst="ellipse">
            <a:avLst/>
          </a:prstGeom>
          <a:solidFill>
            <a:srgbClr val="0F766E"/>
          </a:solidFill>
          <a:ln/>
        </p:spPr>
      </p:sp>
      <p:sp>
        <p:nvSpPr>
          <p:cNvPr id="34" name="Text 32"/>
          <p:cNvSpPr txBox="1"/>
          <p:nvPr/>
        </p:nvSpPr>
        <p:spPr>
          <a:xfrm>
            <a:off x="3401568" y="2057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3"/>
          <p:cNvSpPr txBox="1"/>
          <p:nvPr/>
        </p:nvSpPr>
        <p:spPr>
          <a:xfrm>
            <a:off x="3721608" y="2039112"/>
            <a:ext cx="205740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Human</a:t>
            </a:r>
            <a:endParaRPr lang="en-US" sz="1150" dirty="0"/>
          </a:p>
        </p:txBody>
      </p:sp>
      <p:sp>
        <p:nvSpPr>
          <p:cNvPr id="36" name="Text 34"/>
          <p:cNvSpPr txBox="1"/>
          <p:nvPr/>
        </p:nvSpPr>
        <p:spPr>
          <a:xfrm>
            <a:off x="3401568" y="2368296"/>
            <a:ext cx="237744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draft card: edit, dry-run, send</a:t>
            </a:r>
            <a:endParaRPr lang="en-US" sz="950" dirty="0"/>
          </a:p>
        </p:txBody>
      </p:sp>
      <p:sp>
        <p:nvSpPr>
          <p:cNvPr id="37" name="Shape 35"/>
          <p:cNvSpPr/>
          <p:nvPr/>
        </p:nvSpPr>
        <p:spPr>
          <a:xfrm>
            <a:off x="5888736" y="2359152"/>
            <a:ext cx="256032" cy="219456"/>
          </a:xfrm>
          <a:prstGeom prst="rightArrow">
            <a:avLst/>
          </a:prstGeom>
          <a:solidFill>
            <a:srgbClr val="0F766E"/>
          </a:solidFill>
          <a:ln/>
        </p:spPr>
      </p:sp>
      <p:sp>
        <p:nvSpPr>
          <p:cNvPr id="38" name="Shape 36"/>
          <p:cNvSpPr/>
          <p:nvPr/>
        </p:nvSpPr>
        <p:spPr>
          <a:xfrm>
            <a:off x="6163056" y="1965960"/>
            <a:ext cx="2560320" cy="1005840"/>
          </a:xfrm>
          <a:prstGeom prst="roundRect">
            <a:avLst>
              <a:gd name="adj" fmla="val 7273"/>
            </a:avLst>
          </a:prstGeom>
          <a:solidFill>
            <a:srgbClr val="F3F4F6"/>
          </a:solidFill>
          <a:ln/>
        </p:spPr>
      </p:sp>
      <p:sp>
        <p:nvSpPr>
          <p:cNvPr id="39" name="Shape 37"/>
          <p:cNvSpPr/>
          <p:nvPr/>
        </p:nvSpPr>
        <p:spPr>
          <a:xfrm>
            <a:off x="6254496" y="2057400"/>
            <a:ext cx="256032" cy="256032"/>
          </a:xfrm>
          <a:prstGeom prst="ellipse">
            <a:avLst/>
          </a:prstGeom>
          <a:solidFill>
            <a:srgbClr val="0F766E"/>
          </a:solidFill>
          <a:ln/>
        </p:spPr>
      </p:sp>
      <p:sp>
        <p:nvSpPr>
          <p:cNvPr id="40" name="Text 38"/>
          <p:cNvSpPr txBox="1"/>
          <p:nvPr/>
        </p:nvSpPr>
        <p:spPr>
          <a:xfrm>
            <a:off x="6254496" y="20574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6574536" y="2039112"/>
            <a:ext cx="2057400" cy="274320"/>
          </a:xfrm>
          <a:prstGeom prst="rect">
            <a:avLst/>
          </a:prstGeom>
          <a:noFill/>
          <a:ln/>
        </p:spPr>
        <p:txBody>
          <a:bodyPr wrap="square" lIns="0" tIns="0" rIns="0" bIns="0" rtlCol="0" anchor="t"/>
          <a:lstStyle/>
          <a:p>
            <a:pPr algn="l" indent="0" marL="0">
              <a:buNone/>
            </a:pPr>
            <a:r>
              <a:rPr lang="en-US" sz="1150" b="1" dirty="0">
                <a:solidFill>
                  <a:srgbClr val="1F2937"/>
                </a:solidFill>
                <a:latin typeface="Calibri" pitchFamily="34" charset="0"/>
                <a:ea typeface="Calibri" pitchFamily="34" charset="-122"/>
                <a:cs typeface="Calibri" pitchFamily="34" charset="-120"/>
              </a:rPr>
              <a:t>Push</a:t>
            </a:r>
            <a:endParaRPr lang="en-US" sz="1150" dirty="0"/>
          </a:p>
        </p:txBody>
      </p:sp>
      <p:sp>
        <p:nvSpPr>
          <p:cNvPr id="42" name="Text 40"/>
          <p:cNvSpPr txBox="1"/>
          <p:nvPr/>
        </p:nvSpPr>
        <p:spPr>
          <a:xfrm>
            <a:off x="6254496" y="2368296"/>
            <a:ext cx="2377440" cy="530352"/>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two phases: space, then amenities + facilities, then offices</a:t>
            </a:r>
            <a:endParaRPr lang="en-US" sz="950" dirty="0"/>
          </a:p>
        </p:txBody>
      </p:sp>
      <p:sp>
        <p:nvSpPr>
          <p:cNvPr id="43" name="Shape 41"/>
          <p:cNvSpPr/>
          <p:nvPr/>
        </p:nvSpPr>
        <p:spPr>
          <a:xfrm>
            <a:off x="457200" y="3108960"/>
            <a:ext cx="1954530" cy="457200"/>
          </a:xfrm>
          <a:prstGeom prst="roundRect">
            <a:avLst>
              <a:gd name="adj" fmla="val 16000"/>
            </a:avLst>
          </a:prstGeom>
          <a:solidFill>
            <a:srgbClr val="F3F4F6"/>
          </a:solidFill>
          <a:ln/>
        </p:spPr>
      </p:sp>
      <p:sp>
        <p:nvSpPr>
          <p:cNvPr id="44" name="Text 42"/>
          <p:cNvSpPr txBox="1"/>
          <p:nvPr/>
        </p:nvSpPr>
        <p:spPr>
          <a:xfrm>
            <a:off x="530352" y="3108960"/>
            <a:ext cx="1808226" cy="457200"/>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Operator or broker: sends</a:t>
            </a:r>
            <a:endParaRPr lang="en-US" sz="1100" dirty="0"/>
          </a:p>
        </p:txBody>
      </p:sp>
      <p:sp>
        <p:nvSpPr>
          <p:cNvPr id="45" name="Shape 43"/>
          <p:cNvSpPr/>
          <p:nvPr/>
        </p:nvSpPr>
        <p:spPr>
          <a:xfrm>
            <a:off x="2548890" y="3108960"/>
            <a:ext cx="1954530" cy="457200"/>
          </a:xfrm>
          <a:prstGeom prst="roundRect">
            <a:avLst>
              <a:gd name="adj" fmla="val 16000"/>
            </a:avLst>
          </a:prstGeom>
          <a:solidFill>
            <a:srgbClr val="F3F4F6"/>
          </a:solidFill>
          <a:ln/>
        </p:spPr>
      </p:sp>
      <p:sp>
        <p:nvSpPr>
          <p:cNvPr id="46" name="Text 44"/>
          <p:cNvSpPr txBox="1"/>
          <p:nvPr/>
        </p:nvSpPr>
        <p:spPr>
          <a:xfrm>
            <a:off x="2622042" y="3108960"/>
            <a:ext cx="1808226" cy="457200"/>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Model: extracts and drafts</a:t>
            </a:r>
            <a:endParaRPr lang="en-US" sz="1100" dirty="0"/>
          </a:p>
        </p:txBody>
      </p:sp>
      <p:sp>
        <p:nvSpPr>
          <p:cNvPr id="47" name="Shape 45"/>
          <p:cNvSpPr/>
          <p:nvPr/>
        </p:nvSpPr>
        <p:spPr>
          <a:xfrm>
            <a:off x="4640580" y="3108960"/>
            <a:ext cx="1954530" cy="457200"/>
          </a:xfrm>
          <a:prstGeom prst="roundRect">
            <a:avLst>
              <a:gd name="adj" fmla="val 16000"/>
            </a:avLst>
          </a:prstGeom>
          <a:solidFill>
            <a:srgbClr val="F3F4F6"/>
          </a:solidFill>
          <a:ln/>
        </p:spPr>
      </p:sp>
      <p:sp>
        <p:nvSpPr>
          <p:cNvPr id="48" name="Text 46"/>
          <p:cNvSpPr txBox="1"/>
          <p:nvPr/>
        </p:nvSpPr>
        <p:spPr>
          <a:xfrm>
            <a:off x="4713732" y="3108960"/>
            <a:ext cx="1808226" cy="457200"/>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Ops reviewer: decides</a:t>
            </a:r>
            <a:endParaRPr lang="en-US" sz="1100" dirty="0"/>
          </a:p>
        </p:txBody>
      </p:sp>
      <p:sp>
        <p:nvSpPr>
          <p:cNvPr id="49" name="Shape 47"/>
          <p:cNvSpPr/>
          <p:nvPr/>
        </p:nvSpPr>
        <p:spPr>
          <a:xfrm>
            <a:off x="6732270" y="3108960"/>
            <a:ext cx="1954530" cy="457200"/>
          </a:xfrm>
          <a:prstGeom prst="roundRect">
            <a:avLst>
              <a:gd name="adj" fmla="val 16000"/>
            </a:avLst>
          </a:prstGeom>
          <a:solidFill>
            <a:srgbClr val="F3F4F6"/>
          </a:solidFill>
          <a:ln/>
        </p:spPr>
      </p:sp>
      <p:sp>
        <p:nvSpPr>
          <p:cNvPr id="50" name="Text 48"/>
          <p:cNvSpPr txBox="1"/>
          <p:nvPr/>
        </p:nvSpPr>
        <p:spPr>
          <a:xfrm>
            <a:off x="6805422" y="3108960"/>
            <a:ext cx="1808226" cy="457200"/>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FlowSpace API: receives</a:t>
            </a:r>
            <a:endParaRPr lang="en-US" sz="1100" dirty="0"/>
          </a:p>
        </p:txBody>
      </p:sp>
      <p:sp>
        <p:nvSpPr>
          <p:cNvPr id="51" name="Shape 49"/>
          <p:cNvSpPr/>
          <p:nvPr/>
        </p:nvSpPr>
        <p:spPr>
          <a:xfrm>
            <a:off x="457200" y="3703320"/>
            <a:ext cx="2651760" cy="457200"/>
          </a:xfrm>
          <a:prstGeom prst="roundRect">
            <a:avLst>
              <a:gd name="adj" fmla="val 16000"/>
            </a:avLst>
          </a:prstGeom>
          <a:solidFill>
            <a:srgbClr val="FFFFFF"/>
          </a:solidFill>
          <a:ln w="15875">
            <a:solidFill>
              <a:srgbClr val="0F766E"/>
            </a:solidFill>
            <a:prstDash val="solid"/>
          </a:ln>
        </p:spPr>
      </p:sp>
      <p:sp>
        <p:nvSpPr>
          <p:cNvPr id="52" name="Text 50"/>
          <p:cNvSpPr txBox="1"/>
          <p:nvPr/>
        </p:nvSpPr>
        <p:spPr>
          <a:xfrm>
            <a:off x="548640" y="3703320"/>
            <a:ext cx="2468880" cy="457200"/>
          </a:xfrm>
          <a:prstGeom prst="rect">
            <a:avLst/>
          </a:prstGeom>
          <a:noFill/>
          <a:ln/>
        </p:spPr>
        <p:txBody>
          <a:bodyPr wrap="square" lIns="0" tIns="0" rIns="0" bIns="0" rtlCol="0" anchor="ctr"/>
          <a:lstStyle/>
          <a:p>
            <a:pPr algn="l" indent="0" marL="0">
              <a:buNone/>
            </a:pPr>
            <a:r>
              <a:rPr lang="en-US" sz="1050" b="1" dirty="0">
                <a:solidFill>
                  <a:srgbClr val="0F766E"/>
                </a:solidFill>
                <a:latin typeface="Calibri" pitchFamily="34" charset="0"/>
                <a:ea typeface="Calibri" pitchFamily="34" charset="-122"/>
                <a:cs typeface="Calibri" pitchFamily="34" charset="-120"/>
              </a:rPr>
              <a:t>Model output is untrusted until coerced at the boundary</a:t>
            </a:r>
            <a:endParaRPr lang="en-US" sz="1050" dirty="0"/>
          </a:p>
        </p:txBody>
      </p:sp>
      <p:sp>
        <p:nvSpPr>
          <p:cNvPr id="53" name="Shape 51"/>
          <p:cNvSpPr/>
          <p:nvPr/>
        </p:nvSpPr>
        <p:spPr>
          <a:xfrm>
            <a:off x="3246120" y="3703320"/>
            <a:ext cx="2651760" cy="457200"/>
          </a:xfrm>
          <a:prstGeom prst="roundRect">
            <a:avLst>
              <a:gd name="adj" fmla="val 16000"/>
            </a:avLst>
          </a:prstGeom>
          <a:solidFill>
            <a:srgbClr val="FFFFFF"/>
          </a:solidFill>
          <a:ln w="15875">
            <a:solidFill>
              <a:srgbClr val="0F766E"/>
            </a:solidFill>
            <a:prstDash val="solid"/>
          </a:ln>
        </p:spPr>
      </p:sp>
      <p:sp>
        <p:nvSpPr>
          <p:cNvPr id="54" name="Text 52"/>
          <p:cNvSpPr txBox="1"/>
          <p:nvPr/>
        </p:nvSpPr>
        <p:spPr>
          <a:xfrm>
            <a:off x="3337560" y="3703320"/>
            <a:ext cx="2468880" cy="457200"/>
          </a:xfrm>
          <a:prstGeom prst="rect">
            <a:avLst/>
          </a:prstGeom>
          <a:noFill/>
          <a:ln/>
        </p:spPr>
        <p:txBody>
          <a:bodyPr wrap="square" lIns="0" tIns="0" rIns="0" bIns="0" rtlCol="0" anchor="ctr"/>
          <a:lstStyle/>
          <a:p>
            <a:pPr algn="l" indent="0" marL="0">
              <a:buNone/>
            </a:pPr>
            <a:r>
              <a:rPr lang="en-US" sz="1050" b="1" dirty="0">
                <a:solidFill>
                  <a:srgbClr val="0F766E"/>
                </a:solidFill>
                <a:latin typeface="Calibri" pitchFamily="34" charset="0"/>
                <a:ea typeface="Calibri" pitchFamily="34" charset="-122"/>
                <a:cs typeface="Calibri" pitchFamily="34" charset="-120"/>
              </a:rPr>
              <a:t>Source values are byte-exact; disagreements become flags, never substitutions</a:t>
            </a:r>
            <a:endParaRPr lang="en-US" sz="1050" dirty="0"/>
          </a:p>
        </p:txBody>
      </p:sp>
      <p:sp>
        <p:nvSpPr>
          <p:cNvPr id="55" name="Shape 53"/>
          <p:cNvSpPr/>
          <p:nvPr/>
        </p:nvSpPr>
        <p:spPr>
          <a:xfrm>
            <a:off x="6035040" y="3703320"/>
            <a:ext cx="2651760" cy="457200"/>
          </a:xfrm>
          <a:prstGeom prst="roundRect">
            <a:avLst>
              <a:gd name="adj" fmla="val 16000"/>
            </a:avLst>
          </a:prstGeom>
          <a:solidFill>
            <a:srgbClr val="FFFFFF"/>
          </a:solidFill>
          <a:ln w="15875">
            <a:solidFill>
              <a:srgbClr val="0F766E"/>
            </a:solidFill>
            <a:prstDash val="solid"/>
          </a:ln>
        </p:spPr>
      </p:sp>
      <p:sp>
        <p:nvSpPr>
          <p:cNvPr id="56" name="Text 54"/>
          <p:cNvSpPr txBox="1"/>
          <p:nvPr/>
        </p:nvSpPr>
        <p:spPr>
          <a:xfrm>
            <a:off x="6126480" y="3703320"/>
            <a:ext cx="2468880" cy="457200"/>
          </a:xfrm>
          <a:prstGeom prst="rect">
            <a:avLst/>
          </a:prstGeom>
          <a:noFill/>
          <a:ln/>
        </p:spPr>
        <p:txBody>
          <a:bodyPr wrap="square" lIns="0" tIns="0" rIns="0" bIns="0" rtlCol="0" anchor="ctr"/>
          <a:lstStyle/>
          <a:p>
            <a:pPr algn="l" indent="0" marL="0">
              <a:buNone/>
            </a:pPr>
            <a:r>
              <a:rPr lang="en-US" sz="1050" b="1" dirty="0">
                <a:solidFill>
                  <a:srgbClr val="0F766E"/>
                </a:solidFill>
                <a:latin typeface="Calibri" pitchFamily="34" charset="0"/>
                <a:ea typeface="Calibri" pitchFamily="34" charset="-122"/>
                <a:cs typeface="Calibri" pitchFamily="34" charset="-120"/>
              </a:rPr>
              <a:t>Nothing reaches prod without a person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What the reviewer sees</a:t>
            </a:r>
            <a:endParaRPr lang="en-US" sz="2600" dirty="0"/>
          </a:p>
        </p:txBody>
      </p:sp>
      <p:sp>
        <p:nvSpPr>
          <p:cNvPr id="3" name="Shape 1"/>
          <p:cNvSpPr/>
          <p:nvPr/>
        </p:nvSpPr>
        <p:spPr>
          <a:xfrm>
            <a:off x="1571586" y="768096"/>
            <a:ext cx="3371929" cy="3163824"/>
          </a:xfrm>
          <a:prstGeom prst="roundRect">
            <a:avLst>
              <a:gd name="adj" fmla="val 2312"/>
            </a:avLst>
          </a:prstGeom>
          <a:solidFill>
            <a:srgbClr val="FFFFFF"/>
          </a:solidFill>
          <a:ln w="12700">
            <a:solidFill>
              <a:srgbClr val="D1D5DB"/>
            </a:solidFill>
            <a:prstDash val="solid"/>
          </a:ln>
          <a:effectLst>
            <a:outerShdw sx="100000" sy="100000" kx="0" ky="0" algn="bl" rotWithShape="0" blurRad="50800" dist="25400" dir="5400000">
              <a:srgbClr val="808080">
                <a:alpha val="25000"/>
              </a:srgbClr>
            </a:outerShdw>
          </a:effectLst>
        </p:spPr>
      </p:sp>
      <p:pic>
        <p:nvPicPr>
          <p:cNvPr id="4" name="Image 0" descr="/Users/prab/Downloads/claud jobs/mainloop/card-edit-crop.png">    </p:cNvPr>
          <p:cNvPicPr>
            <a:picLocks noChangeAspect="1"/>
          </p:cNvPicPr>
          <p:nvPr/>
        </p:nvPicPr>
        <p:blipFill>
          <a:blip r:embed="rId1"/>
          <a:stretch>
            <a:fillRect/>
          </a:stretch>
        </p:blipFill>
        <p:spPr>
          <a:xfrm>
            <a:off x="1644738" y="841248"/>
            <a:ext cx="3225625" cy="3017520"/>
          </a:xfrm>
          <a:prstGeom prst="rect">
            <a:avLst/>
          </a:prstGeom>
        </p:spPr>
      </p:pic>
      <p:sp>
        <p:nvSpPr>
          <p:cNvPr id="5" name="Shape 2"/>
          <p:cNvSpPr/>
          <p:nvPr/>
        </p:nvSpPr>
        <p:spPr>
          <a:xfrm>
            <a:off x="5162970" y="768096"/>
            <a:ext cx="2409444" cy="3163824"/>
          </a:xfrm>
          <a:prstGeom prst="roundRect">
            <a:avLst>
              <a:gd name="adj" fmla="val 3036"/>
            </a:avLst>
          </a:prstGeom>
          <a:solidFill>
            <a:srgbClr val="FFFFFF"/>
          </a:solidFill>
          <a:ln w="12700">
            <a:solidFill>
              <a:srgbClr val="D1D5DB"/>
            </a:solidFill>
            <a:prstDash val="solid"/>
          </a:ln>
          <a:effectLst>
            <a:outerShdw sx="100000" sy="100000" kx="0" ky="0" algn="bl" rotWithShape="0" blurRad="50800" dist="25400" dir="5400000">
              <a:srgbClr val="808080">
                <a:alpha val="25000"/>
              </a:srgbClr>
            </a:outerShdw>
          </a:effectLst>
        </p:spPr>
      </p:sp>
      <p:pic>
        <p:nvPicPr>
          <p:cNvPr id="6" name="Image 1" descr="/Users/prab/Downloads/claud jobs/mainloop/chips-crop.png">    </p:cNvPr>
          <p:cNvPicPr>
            <a:picLocks noChangeAspect="1"/>
          </p:cNvPicPr>
          <p:nvPr/>
        </p:nvPicPr>
        <p:blipFill>
          <a:blip r:embed="rId2"/>
          <a:stretch>
            <a:fillRect/>
          </a:stretch>
        </p:blipFill>
        <p:spPr>
          <a:xfrm>
            <a:off x="5236122" y="841248"/>
            <a:ext cx="2263140" cy="3017520"/>
          </a:xfrm>
          <a:prstGeom prst="rect">
            <a:avLst/>
          </a:prstGeom>
        </p:spPr>
      </p:pic>
      <p:sp>
        <p:nvSpPr>
          <p:cNvPr id="7" name="Text 3"/>
          <p:cNvSpPr txBox="1"/>
          <p:nvPr/>
        </p:nvSpPr>
        <p:spPr>
          <a:xfrm>
            <a:off x="1571586" y="3986784"/>
            <a:ext cx="3371929" cy="82296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Chat draft card, lower half: amenity chips (green mapped to the catalogue, red unmapped and never force-fit), the offices table, and Dry-run vs Send LIVE.</a:t>
            </a:r>
            <a:endParaRPr lang="en-US" sz="1000" dirty="0"/>
          </a:p>
        </p:txBody>
      </p:sp>
      <p:sp>
        <p:nvSpPr>
          <p:cNvPr id="8" name="Text 4"/>
          <p:cNvSpPr txBox="1"/>
          <p:nvPr/>
        </p:nvSpPr>
        <p:spPr>
          <a:xfrm>
            <a:off x="5162970" y="3986784"/>
            <a:ext cx="2409444" cy="82296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Batch checkpoint for a whole broker workbook: ON FLOWSPACE LIVE, already drafted, postcode TERMINATED, operator note “do not list”.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algn="l" indent="0" marL="0">
              <a:buNone/>
            </a:pPr>
            <a:r>
              <a:rPr lang="en-US" sz="2200" b="1" dirty="0">
                <a:solidFill>
                  <a:srgbClr val="1F2937"/>
                </a:solidFill>
                <a:latin typeface="Cambria" pitchFamily="34" charset="0"/>
                <a:ea typeface="Cambria" pitchFamily="34" charset="-122"/>
                <a:cs typeface="Cambria" pitchFamily="34" charset="-120"/>
              </a:rPr>
              <a:t>The decision to stop me on: nothing reaches prod without a person</a:t>
            </a:r>
            <a:endParaRPr lang="en-US" sz="2200" dirty="0"/>
          </a:p>
        </p:txBody>
      </p:sp>
      <p:sp>
        <p:nvSpPr>
          <p:cNvPr id="3" name="Shape 1"/>
          <p:cNvSpPr/>
          <p:nvPr/>
        </p:nvSpPr>
        <p:spPr>
          <a:xfrm>
            <a:off x="457200" y="960120"/>
            <a:ext cx="5303520" cy="3657600"/>
          </a:xfrm>
          <a:prstGeom prst="roundRect">
            <a:avLst>
              <a:gd name="adj" fmla="val 2000"/>
            </a:avLst>
          </a:prstGeom>
          <a:solidFill>
            <a:srgbClr val="F3F4F6"/>
          </a:solidFill>
          <a:ln/>
        </p:spPr>
      </p:sp>
      <p:sp>
        <p:nvSpPr>
          <p:cNvPr id="4" name="Text 2"/>
          <p:cNvSpPr txBox="1"/>
          <p:nvPr/>
        </p:nvSpPr>
        <p:spPr>
          <a:xfrm>
            <a:off x="640080" y="1124712"/>
            <a:ext cx="4937760" cy="82296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Claim —</a:t>
            </a:r>
            <a:pPr algn="l" indent="0" marL="0">
              <a:buNone/>
            </a:pPr>
            <a:r>
              <a:rPr lang="en-US" sz="1100" dirty="0">
                <a:solidFill>
                  <a:srgbClr val="1F2937"/>
                </a:solidFill>
                <a:latin typeface="Calibri" pitchFamily="34" charset="0"/>
                <a:ea typeface="Calibri" pitchFamily="34" charset="-122"/>
                <a:cs typeface="Calibri" pitchFamily="34" charset="-120"/>
              </a:rPr>
              <a:t> Three gates, all closed by default: dry-run is on unless switched off; every card needs a person to press Send; batch auto-push sits behind three switches and ships off.</a:t>
            </a:r>
            <a:endParaRPr lang="en-US" sz="1100" dirty="0"/>
          </a:p>
        </p:txBody>
      </p:sp>
      <p:sp>
        <p:nvSpPr>
          <p:cNvPr id="5" name="Text 3"/>
          <p:cNvSpPr txBox="1"/>
          <p:nvPr/>
        </p:nvSpPr>
        <p:spPr>
          <a:xfrm>
            <a:off x="640080" y="1947672"/>
            <a:ext cx="4937760" cy="91440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Why —</a:t>
            </a:r>
            <a:pPr algn="l" indent="0" marL="0">
              <a:buNone/>
            </a:pPr>
            <a:r>
              <a:rPr lang="en-US" sz="1100" dirty="0">
                <a:solidFill>
                  <a:srgbClr val="1F2937"/>
                </a:solidFill>
                <a:latin typeface="Calibri" pitchFamily="34" charset="0"/>
                <a:ea typeface="Calibri" pitchFamily="34" charset="-122"/>
                <a:cs typeface="Calibri" pitchFamily="34" charset="-120"/>
              </a:rPr>
              <a:t> A wrong price or address goes public under an operator's brand. Inputs arrive in six formats from thirty feeds with known defects. A slow listing costs minutes; a wrong one costs trust.</a:t>
            </a:r>
            <a:endParaRPr lang="en-US" sz="1100" dirty="0"/>
          </a:p>
        </p:txBody>
      </p:sp>
      <p:sp>
        <p:nvSpPr>
          <p:cNvPr id="6" name="Text 4"/>
          <p:cNvSpPr txBox="1"/>
          <p:nvPr/>
        </p:nvSpPr>
        <p:spPr>
          <a:xfrm>
            <a:off x="640080" y="2862072"/>
            <a:ext cx="4937760" cy="50292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Cost —</a:t>
            </a:r>
            <a:pPr algn="l" indent="0" marL="0">
              <a:buNone/>
            </a:pPr>
            <a:r>
              <a:rPr lang="en-US" sz="1100" dirty="0">
                <a:solidFill>
                  <a:srgbClr val="1F2937"/>
                </a:solidFill>
                <a:latin typeface="Calibri" pitchFamily="34" charset="0"/>
                <a:ea typeface="Calibri" pitchFamily="34" charset="-122"/>
                <a:cs typeface="Calibri" pitchFamily="34" charset="-120"/>
              </a:rPr>
              <a:t> Throughput. Over 900 drafts produced, 114 sent live. Review time per card remains.</a:t>
            </a:r>
            <a:endParaRPr lang="en-US" sz="1100" dirty="0"/>
          </a:p>
        </p:txBody>
      </p:sp>
      <p:sp>
        <p:nvSpPr>
          <p:cNvPr id="7" name="Text 5"/>
          <p:cNvSpPr txBox="1"/>
          <p:nvPr/>
        </p:nvSpPr>
        <p:spPr>
          <a:xfrm>
            <a:off x="640080" y="3364992"/>
            <a:ext cx="4937760" cy="91440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What would change my mind —</a:t>
            </a:r>
            <a:pPr algn="l" indent="0" marL="0">
              <a:buNone/>
            </a:pPr>
            <a:r>
              <a:rPr lang="en-US" sz="1100" dirty="0">
                <a:solidFill>
                  <a:srgbClr val="1F2937"/>
                </a:solidFill>
                <a:latin typeface="Calibri" pitchFamily="34" charset="0"/>
                <a:ea typeface="Calibri" pitchFamily="34" charset="-122"/>
                <a:cs typeface="Calibri" pitchFamily="34" charset="-120"/>
              </a:rPr>
              <a:t> The correction log (AI draft vs the human's final edit, recorded at push) showing a field the reviewer never touches. Loosen per field, not globally.</a:t>
            </a:r>
            <a:endParaRPr lang="en-US" sz="1100" dirty="0"/>
          </a:p>
        </p:txBody>
      </p:sp>
      <p:sp>
        <p:nvSpPr>
          <p:cNvPr id="8" name="Shape 6"/>
          <p:cNvSpPr/>
          <p:nvPr/>
        </p:nvSpPr>
        <p:spPr>
          <a:xfrm>
            <a:off x="5943600" y="960120"/>
            <a:ext cx="2743200" cy="804672"/>
          </a:xfrm>
          <a:prstGeom prst="roundRect">
            <a:avLst>
              <a:gd name="adj" fmla="val 9091"/>
            </a:avLst>
          </a:prstGeom>
          <a:solidFill>
            <a:srgbClr val="F3F4F6"/>
          </a:solidFill>
          <a:ln/>
        </p:spPr>
      </p:sp>
      <p:sp>
        <p:nvSpPr>
          <p:cNvPr id="9" name="Text 7"/>
          <p:cNvSpPr txBox="1"/>
          <p:nvPr/>
        </p:nvSpPr>
        <p:spPr>
          <a:xfrm>
            <a:off x="6071616" y="1033272"/>
            <a:ext cx="2487168" cy="65836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Check prod first —</a:t>
            </a:r>
            <a:pPr algn="l" indent="0" marL="0">
              <a:buNone/>
            </a:pPr>
            <a:r>
              <a:rPr lang="en-US" sz="1000" dirty="0">
                <a:solidFill>
                  <a:srgbClr val="1F2937"/>
                </a:solidFill>
                <a:latin typeface="Calibri" pitchFamily="34" charset="0"/>
                <a:ea typeface="Calibri" pitchFamily="34" charset="-122"/>
                <a:cs typeface="Calibri" pitchFamily="34" charset="-120"/>
              </a:rPr>
              <a:t> exact, then fuzzy, then postcode; update, do not duplicate. 916 backlog rows became 446 UPDATE and 375 NEW.</a:t>
            </a:r>
            <a:endParaRPr lang="en-US" sz="1000" dirty="0"/>
          </a:p>
        </p:txBody>
      </p:sp>
      <p:sp>
        <p:nvSpPr>
          <p:cNvPr id="10" name="Shape 8"/>
          <p:cNvSpPr/>
          <p:nvPr/>
        </p:nvSpPr>
        <p:spPr>
          <a:xfrm>
            <a:off x="5943600" y="1837944"/>
            <a:ext cx="2743200" cy="804672"/>
          </a:xfrm>
          <a:prstGeom prst="roundRect">
            <a:avLst>
              <a:gd name="adj" fmla="val 9091"/>
            </a:avLst>
          </a:prstGeom>
          <a:solidFill>
            <a:srgbClr val="F3F4F6"/>
          </a:solidFill>
          <a:ln/>
        </p:spPr>
      </p:sp>
      <p:sp>
        <p:nvSpPr>
          <p:cNvPr id="11" name="Text 9"/>
          <p:cNvSpPr txBox="1"/>
          <p:nvPr/>
        </p:nvSpPr>
        <p:spPr>
          <a:xfrm>
            <a:off x="6071616" y="1911096"/>
            <a:ext cx="2487168" cy="65836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Untrusted model output —</a:t>
            </a:r>
            <a:pPr algn="l" indent="0" marL="0">
              <a:buNone/>
            </a:pPr>
            <a:r>
              <a:rPr lang="en-US" sz="1000" dirty="0">
                <a:solidFill>
                  <a:srgbClr val="1F2937"/>
                </a:solidFill>
                <a:latin typeface="Calibri" pitchFamily="34" charset="0"/>
                <a:ea typeface="Calibri" pitchFamily="34" charset="-122"/>
                <a:cs typeface="Calibri" pitchFamily="34" charset="-120"/>
              </a:rPr>
              <a:t> coerce at the boundary. 550 drafts once carried a bad tenure value; an enum guard caught it before push.</a:t>
            </a:r>
            <a:endParaRPr lang="en-US" sz="1000" dirty="0"/>
          </a:p>
        </p:txBody>
      </p:sp>
      <p:sp>
        <p:nvSpPr>
          <p:cNvPr id="12" name="Shape 10"/>
          <p:cNvSpPr/>
          <p:nvPr/>
        </p:nvSpPr>
        <p:spPr>
          <a:xfrm>
            <a:off x="5943600" y="2715768"/>
            <a:ext cx="2743200" cy="804672"/>
          </a:xfrm>
          <a:prstGeom prst="roundRect">
            <a:avLst>
              <a:gd name="adj" fmla="val 9091"/>
            </a:avLst>
          </a:prstGeom>
          <a:solidFill>
            <a:srgbClr val="F3F4F6"/>
          </a:solidFill>
          <a:ln/>
        </p:spPr>
      </p:sp>
      <p:sp>
        <p:nvSpPr>
          <p:cNvPr id="13" name="Text 11"/>
          <p:cNvSpPr txBox="1"/>
          <p:nvPr/>
        </p:nvSpPr>
        <p:spPr>
          <a:xfrm>
            <a:off x="6071616" y="2788920"/>
            <a:ext cx="2487168" cy="65836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Photos on Supabase, not backend S3 —</a:t>
            </a:r>
            <a:pPr algn="l" indent="0" marL="0">
              <a:buNone/>
            </a:pPr>
            <a:r>
              <a:rPr lang="en-US" sz="1000" dirty="0">
                <a:solidFill>
                  <a:srgbClr val="1F2937"/>
                </a:solidFill>
                <a:latin typeface="Calibri" pitchFamily="34" charset="0"/>
                <a:ea typeface="Calibri" pitchFamily="34" charset="-122"/>
                <a:cs typeface="Calibri" pitchFamily="34" charset="-120"/>
              </a:rPr>
              <a:t> shipped, measured 720x405 on live, reverted the same week, wrote the re-instate condition.</a:t>
            </a:r>
            <a:endParaRPr lang="en-US" sz="1000" dirty="0"/>
          </a:p>
        </p:txBody>
      </p:sp>
      <p:sp>
        <p:nvSpPr>
          <p:cNvPr id="14" name="Shape 12"/>
          <p:cNvSpPr/>
          <p:nvPr/>
        </p:nvSpPr>
        <p:spPr>
          <a:xfrm>
            <a:off x="5943600" y="3593592"/>
            <a:ext cx="2743200" cy="804672"/>
          </a:xfrm>
          <a:prstGeom prst="roundRect">
            <a:avLst>
              <a:gd name="adj" fmla="val 9091"/>
            </a:avLst>
          </a:prstGeom>
          <a:solidFill>
            <a:srgbClr val="F3F4F6"/>
          </a:solidFill>
          <a:ln/>
        </p:spPr>
      </p:sp>
      <p:sp>
        <p:nvSpPr>
          <p:cNvPr id="15" name="Text 13"/>
          <p:cNvSpPr txBox="1"/>
          <p:nvPr/>
        </p:nvSpPr>
        <p:spPr>
          <a:xfrm>
            <a:off x="6071616" y="3666744"/>
            <a:ext cx="2487168" cy="65836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Migration per entity —</a:t>
            </a:r>
            <a:pPr algn="l" indent="0" marL="0">
              <a:buNone/>
            </a:pPr>
            <a:r>
              <a:rPr lang="en-US" sz="1000" dirty="0">
                <a:solidFill>
                  <a:srgbClr val="1F2937"/>
                </a:solidFill>
                <a:latin typeface="Calibri" pitchFamily="34" charset="0"/>
                <a:ea typeface="Calibri" pitchFamily="34" charset="-122"/>
                <a:cs typeface="Calibri" pitchFamily="34" charset="-120"/>
              </a:rPr>
              <a:t> live entities by API sync, frozen records by one-time CSV; per-entity cutover, not one weekend.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Built with agents: eight weeks, one engineer</a:t>
            </a:r>
            <a:endParaRPr lang="en-US" sz="2600" dirty="0"/>
          </a:p>
        </p:txBody>
      </p:sp>
      <p:sp>
        <p:nvSpPr>
          <p:cNvPr id="3" name="Shape 1"/>
          <p:cNvSpPr/>
          <p:nvPr/>
        </p:nvSpPr>
        <p:spPr>
          <a:xfrm>
            <a:off x="777240" y="1234440"/>
            <a:ext cx="7589520" cy="0"/>
          </a:xfrm>
          <a:prstGeom prst="line">
            <a:avLst/>
          </a:prstGeom>
          <a:noFill/>
          <a:ln w="19050">
            <a:solidFill>
              <a:srgbClr val="D1D5DB"/>
            </a:solidFill>
            <a:prstDash val="solid"/>
          </a:ln>
        </p:spPr>
      </p:sp>
      <p:sp>
        <p:nvSpPr>
          <p:cNvPr id="4" name="Shape 2"/>
          <p:cNvSpPr/>
          <p:nvPr/>
        </p:nvSpPr>
        <p:spPr>
          <a:xfrm>
            <a:off x="722376" y="1179576"/>
            <a:ext cx="109728" cy="109728"/>
          </a:xfrm>
          <a:prstGeom prst="ellipse">
            <a:avLst/>
          </a:prstGeom>
          <a:solidFill>
            <a:srgbClr val="0F766E"/>
          </a:solidFill>
          <a:ln/>
        </p:spPr>
      </p:sp>
      <p:sp>
        <p:nvSpPr>
          <p:cNvPr id="5" name="Text 3"/>
          <p:cNvSpPr txBox="1"/>
          <p:nvPr/>
        </p:nvSpPr>
        <p:spPr>
          <a:xfrm>
            <a:off x="45720" y="850392"/>
            <a:ext cx="1463040" cy="274320"/>
          </a:xfrm>
          <a:prstGeom prst="rect">
            <a:avLst/>
          </a:prstGeom>
          <a:noFill/>
          <a:ln/>
        </p:spPr>
        <p:txBody>
          <a:bodyPr wrap="square" lIns="0" tIns="0" rIns="0" bIns="0" rtlCol="0" anchor="b"/>
          <a:lstStyle/>
          <a:p>
            <a:pPr algn="ctr" indent="0" marL="0">
              <a:buNone/>
            </a:pPr>
            <a:r>
              <a:rPr lang="en-US" sz="1100" b="1" dirty="0">
                <a:solidFill>
                  <a:srgbClr val="1F2937"/>
                </a:solidFill>
                <a:latin typeface="Calibri" pitchFamily="34" charset="0"/>
                <a:ea typeface="Calibri" pitchFamily="34" charset="-122"/>
                <a:cs typeface="Calibri" pitchFamily="34" charset="-120"/>
              </a:rPr>
              <a:t>2 Jul</a:t>
            </a:r>
            <a:endParaRPr lang="en-US" sz="1100" dirty="0"/>
          </a:p>
        </p:txBody>
      </p:sp>
      <p:sp>
        <p:nvSpPr>
          <p:cNvPr id="6" name="Text 4"/>
          <p:cNvSpPr txBox="1"/>
          <p:nvPr/>
        </p:nvSpPr>
        <p:spPr>
          <a:xfrm>
            <a:off x="45720" y="1344168"/>
            <a:ext cx="1463040" cy="5029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Python prototype pipeline</a:t>
            </a:r>
            <a:endParaRPr lang="en-US" sz="1000" dirty="0"/>
          </a:p>
        </p:txBody>
      </p:sp>
      <p:sp>
        <p:nvSpPr>
          <p:cNvPr id="7" name="Shape 5"/>
          <p:cNvSpPr/>
          <p:nvPr/>
        </p:nvSpPr>
        <p:spPr>
          <a:xfrm>
            <a:off x="2240280" y="1179576"/>
            <a:ext cx="109728" cy="109728"/>
          </a:xfrm>
          <a:prstGeom prst="ellipse">
            <a:avLst/>
          </a:prstGeom>
          <a:solidFill>
            <a:srgbClr val="0F766E"/>
          </a:solidFill>
          <a:ln/>
        </p:spPr>
      </p:sp>
      <p:sp>
        <p:nvSpPr>
          <p:cNvPr id="8" name="Text 6"/>
          <p:cNvSpPr txBox="1"/>
          <p:nvPr/>
        </p:nvSpPr>
        <p:spPr>
          <a:xfrm>
            <a:off x="1563624" y="850392"/>
            <a:ext cx="1463040" cy="274320"/>
          </a:xfrm>
          <a:prstGeom prst="rect">
            <a:avLst/>
          </a:prstGeom>
          <a:noFill/>
          <a:ln/>
        </p:spPr>
        <p:txBody>
          <a:bodyPr wrap="square" lIns="0" tIns="0" rIns="0" bIns="0" rtlCol="0" anchor="b"/>
          <a:lstStyle/>
          <a:p>
            <a:pPr algn="ctr" indent="0" marL="0">
              <a:buNone/>
            </a:pPr>
            <a:r>
              <a:rPr lang="en-US" sz="1100" b="1" dirty="0">
                <a:solidFill>
                  <a:srgbClr val="1F2937"/>
                </a:solidFill>
                <a:latin typeface="Calibri" pitchFamily="34" charset="0"/>
                <a:ea typeface="Calibri" pitchFamily="34" charset="-122"/>
                <a:cs typeface="Calibri" pitchFamily="34" charset="-120"/>
              </a:rPr>
              <a:t>8 Jul</a:t>
            </a:r>
            <a:endParaRPr lang="en-US" sz="1100" dirty="0"/>
          </a:p>
        </p:txBody>
      </p:sp>
      <p:sp>
        <p:nvSpPr>
          <p:cNvPr id="9" name="Text 7"/>
          <p:cNvSpPr txBox="1"/>
          <p:nvPr/>
        </p:nvSpPr>
        <p:spPr>
          <a:xfrm>
            <a:off x="1563624" y="1344168"/>
            <a:ext cx="1463040" cy="5029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TypeScript app started</a:t>
            </a:r>
            <a:endParaRPr lang="en-US" sz="1000" dirty="0"/>
          </a:p>
        </p:txBody>
      </p:sp>
      <p:sp>
        <p:nvSpPr>
          <p:cNvPr id="10" name="Shape 8"/>
          <p:cNvSpPr/>
          <p:nvPr/>
        </p:nvSpPr>
        <p:spPr>
          <a:xfrm>
            <a:off x="3758184" y="1179576"/>
            <a:ext cx="109728" cy="109728"/>
          </a:xfrm>
          <a:prstGeom prst="ellipse">
            <a:avLst/>
          </a:prstGeom>
          <a:solidFill>
            <a:srgbClr val="0F766E"/>
          </a:solidFill>
          <a:ln/>
        </p:spPr>
      </p:sp>
      <p:sp>
        <p:nvSpPr>
          <p:cNvPr id="11" name="Text 9"/>
          <p:cNvSpPr txBox="1"/>
          <p:nvPr/>
        </p:nvSpPr>
        <p:spPr>
          <a:xfrm>
            <a:off x="3081528" y="850392"/>
            <a:ext cx="1463040" cy="274320"/>
          </a:xfrm>
          <a:prstGeom prst="rect">
            <a:avLst/>
          </a:prstGeom>
          <a:noFill/>
          <a:ln/>
        </p:spPr>
        <p:txBody>
          <a:bodyPr wrap="square" lIns="0" tIns="0" rIns="0" bIns="0" rtlCol="0" anchor="b"/>
          <a:lstStyle/>
          <a:p>
            <a:pPr algn="ctr" indent="0" marL="0">
              <a:buNone/>
            </a:pPr>
            <a:r>
              <a:rPr lang="en-US" sz="1100" b="1" dirty="0">
                <a:solidFill>
                  <a:srgbClr val="1F2937"/>
                </a:solidFill>
                <a:latin typeface="Calibri" pitchFamily="34" charset="0"/>
                <a:ea typeface="Calibri" pitchFamily="34" charset="-122"/>
                <a:cs typeface="Calibri" pitchFamily="34" charset="-120"/>
              </a:rPr>
              <a:t>20 Jul</a:t>
            </a:r>
            <a:endParaRPr lang="en-US" sz="1100" dirty="0"/>
          </a:p>
        </p:txBody>
      </p:sp>
      <p:sp>
        <p:nvSpPr>
          <p:cNvPr id="12" name="Text 10"/>
          <p:cNvSpPr txBox="1"/>
          <p:nvPr/>
        </p:nvSpPr>
        <p:spPr>
          <a:xfrm>
            <a:off x="3081528" y="1344168"/>
            <a:ext cx="1463040" cy="5029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live on Vercel, listing.flowspace.co</a:t>
            </a:r>
            <a:endParaRPr lang="en-US" sz="1000" dirty="0"/>
          </a:p>
        </p:txBody>
      </p:sp>
      <p:sp>
        <p:nvSpPr>
          <p:cNvPr id="13" name="Shape 11"/>
          <p:cNvSpPr/>
          <p:nvPr/>
        </p:nvSpPr>
        <p:spPr>
          <a:xfrm>
            <a:off x="5276088" y="1179576"/>
            <a:ext cx="109728" cy="109728"/>
          </a:xfrm>
          <a:prstGeom prst="ellipse">
            <a:avLst/>
          </a:prstGeom>
          <a:solidFill>
            <a:srgbClr val="0F766E"/>
          </a:solidFill>
          <a:ln/>
        </p:spPr>
      </p:sp>
      <p:sp>
        <p:nvSpPr>
          <p:cNvPr id="14" name="Text 12"/>
          <p:cNvSpPr txBox="1"/>
          <p:nvPr/>
        </p:nvSpPr>
        <p:spPr>
          <a:xfrm>
            <a:off x="4599432" y="850392"/>
            <a:ext cx="1463040" cy="274320"/>
          </a:xfrm>
          <a:prstGeom prst="rect">
            <a:avLst/>
          </a:prstGeom>
          <a:noFill/>
          <a:ln/>
        </p:spPr>
        <p:txBody>
          <a:bodyPr wrap="square" lIns="0" tIns="0" rIns="0" bIns="0" rtlCol="0" anchor="b"/>
          <a:lstStyle/>
          <a:p>
            <a:pPr algn="ctr" indent="0" marL="0">
              <a:buNone/>
            </a:pPr>
            <a:r>
              <a:rPr lang="en-US" sz="1100" b="1" dirty="0">
                <a:solidFill>
                  <a:srgbClr val="1F2937"/>
                </a:solidFill>
                <a:latin typeface="Calibri" pitchFamily="34" charset="0"/>
                <a:ea typeface="Calibri" pitchFamily="34" charset="-122"/>
                <a:cs typeface="Calibri" pitchFamily="34" charset="-120"/>
              </a:rPr>
              <a:t>29 Jul</a:t>
            </a:r>
            <a:endParaRPr lang="en-US" sz="1100" dirty="0"/>
          </a:p>
        </p:txBody>
      </p:sp>
      <p:sp>
        <p:nvSpPr>
          <p:cNvPr id="15" name="Text 13"/>
          <p:cNvSpPr txBox="1"/>
          <p:nvPr/>
        </p:nvSpPr>
        <p:spPr>
          <a:xfrm>
            <a:off x="4599432" y="1344168"/>
            <a:ext cx="1463040" cy="5029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batch acceptance run, 12 of 12</a:t>
            </a:r>
            <a:endParaRPr lang="en-US" sz="1000" dirty="0"/>
          </a:p>
        </p:txBody>
      </p:sp>
      <p:sp>
        <p:nvSpPr>
          <p:cNvPr id="16" name="Shape 14"/>
          <p:cNvSpPr/>
          <p:nvPr/>
        </p:nvSpPr>
        <p:spPr>
          <a:xfrm>
            <a:off x="6793992" y="1179576"/>
            <a:ext cx="109728" cy="109728"/>
          </a:xfrm>
          <a:prstGeom prst="ellipse">
            <a:avLst/>
          </a:prstGeom>
          <a:solidFill>
            <a:srgbClr val="0F766E"/>
          </a:solidFill>
          <a:ln/>
        </p:spPr>
      </p:sp>
      <p:sp>
        <p:nvSpPr>
          <p:cNvPr id="17" name="Text 15"/>
          <p:cNvSpPr txBox="1"/>
          <p:nvPr/>
        </p:nvSpPr>
        <p:spPr>
          <a:xfrm>
            <a:off x="6117336" y="850392"/>
            <a:ext cx="1463040" cy="274320"/>
          </a:xfrm>
          <a:prstGeom prst="rect">
            <a:avLst/>
          </a:prstGeom>
          <a:noFill/>
          <a:ln/>
        </p:spPr>
        <p:txBody>
          <a:bodyPr wrap="square" lIns="0" tIns="0" rIns="0" bIns="0" rtlCol="0" anchor="b"/>
          <a:lstStyle/>
          <a:p>
            <a:pPr algn="ctr" indent="0" marL="0">
              <a:buNone/>
            </a:pPr>
            <a:r>
              <a:rPr lang="en-US" sz="1100" b="1" dirty="0">
                <a:solidFill>
                  <a:srgbClr val="1F2937"/>
                </a:solidFill>
                <a:latin typeface="Calibri" pitchFamily="34" charset="0"/>
                <a:ea typeface="Calibri" pitchFamily="34" charset="-122"/>
                <a:cs typeface="Calibri" pitchFamily="34" charset="-120"/>
              </a:rPr>
              <a:t>31 Jul</a:t>
            </a:r>
            <a:endParaRPr lang="en-US" sz="1100" dirty="0"/>
          </a:p>
        </p:txBody>
      </p:sp>
      <p:sp>
        <p:nvSpPr>
          <p:cNvPr id="18" name="Text 16"/>
          <p:cNvSpPr txBox="1"/>
          <p:nvPr/>
        </p:nvSpPr>
        <p:spPr>
          <a:xfrm>
            <a:off x="6117336" y="1344168"/>
            <a:ext cx="1463040" cy="5029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handover pack</a:t>
            </a:r>
            <a:endParaRPr lang="en-US" sz="1000" dirty="0"/>
          </a:p>
        </p:txBody>
      </p:sp>
      <p:sp>
        <p:nvSpPr>
          <p:cNvPr id="19" name="Shape 17"/>
          <p:cNvSpPr/>
          <p:nvPr/>
        </p:nvSpPr>
        <p:spPr>
          <a:xfrm>
            <a:off x="8311896" y="1179576"/>
            <a:ext cx="109728" cy="109728"/>
          </a:xfrm>
          <a:prstGeom prst="ellipse">
            <a:avLst/>
          </a:prstGeom>
          <a:solidFill>
            <a:srgbClr val="0F766E"/>
          </a:solidFill>
          <a:ln/>
        </p:spPr>
      </p:sp>
      <p:sp>
        <p:nvSpPr>
          <p:cNvPr id="20" name="Text 18"/>
          <p:cNvSpPr txBox="1"/>
          <p:nvPr/>
        </p:nvSpPr>
        <p:spPr>
          <a:xfrm>
            <a:off x="7635240" y="850392"/>
            <a:ext cx="1463040" cy="274320"/>
          </a:xfrm>
          <a:prstGeom prst="rect">
            <a:avLst/>
          </a:prstGeom>
          <a:noFill/>
          <a:ln/>
        </p:spPr>
        <p:txBody>
          <a:bodyPr wrap="square" lIns="0" tIns="0" rIns="0" bIns="0" rtlCol="0" anchor="b"/>
          <a:lstStyle/>
          <a:p>
            <a:pPr algn="ctr" indent="0" marL="0">
              <a:buNone/>
            </a:pPr>
            <a:r>
              <a:rPr lang="en-US" sz="1100" b="1" dirty="0">
                <a:solidFill>
                  <a:srgbClr val="1F2937"/>
                </a:solidFill>
                <a:latin typeface="Calibri" pitchFamily="34" charset="0"/>
                <a:ea typeface="Calibri" pitchFamily="34" charset="-122"/>
                <a:cs typeface="Calibri" pitchFamily="34" charset="-120"/>
              </a:rPr>
              <a:t>13 Aug</a:t>
            </a:r>
            <a:endParaRPr lang="en-US" sz="1100" dirty="0"/>
          </a:p>
        </p:txBody>
      </p:sp>
      <p:sp>
        <p:nvSpPr>
          <p:cNvPr id="21" name="Text 19"/>
          <p:cNvSpPr txBox="1"/>
          <p:nvPr/>
        </p:nvSpPr>
        <p:spPr>
          <a:xfrm>
            <a:off x="7635240" y="1344168"/>
            <a:ext cx="1463040" cy="5029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backlog consolidated</a:t>
            </a:r>
            <a:endParaRPr lang="en-US" sz="1000" dirty="0"/>
          </a:p>
        </p:txBody>
      </p:sp>
      <p:sp>
        <p:nvSpPr>
          <p:cNvPr id="22" name="Shape 20"/>
          <p:cNvSpPr/>
          <p:nvPr/>
        </p:nvSpPr>
        <p:spPr>
          <a:xfrm>
            <a:off x="457200" y="1874520"/>
            <a:ext cx="2788920" cy="713232"/>
          </a:xfrm>
          <a:prstGeom prst="roundRect">
            <a:avLst>
              <a:gd name="adj" fmla="val 10256"/>
            </a:avLst>
          </a:prstGeom>
          <a:solidFill>
            <a:srgbClr val="F3F4F6"/>
          </a:solidFill>
          <a:ln/>
        </p:spPr>
      </p:sp>
      <p:sp>
        <p:nvSpPr>
          <p:cNvPr id="23" name="Text 21"/>
          <p:cNvSpPr txBox="1"/>
          <p:nvPr/>
        </p:nvSpPr>
        <p:spPr>
          <a:xfrm>
            <a:off x="566928" y="1929384"/>
            <a:ext cx="2569464" cy="329184"/>
          </a:xfrm>
          <a:prstGeom prst="rect">
            <a:avLst/>
          </a:prstGeom>
          <a:noFill/>
          <a:ln/>
        </p:spPr>
        <p:txBody>
          <a:bodyPr wrap="square" lIns="0" tIns="0" rIns="0" bIns="0" rtlCol="0" anchor="t"/>
          <a:lstStyle/>
          <a:p>
            <a:pPr algn="l" indent="0" marL="0">
              <a:buNone/>
            </a:pPr>
            <a:r>
              <a:rPr lang="en-US" sz="2600" b="1" dirty="0">
                <a:solidFill>
                  <a:srgbClr val="0F766E"/>
                </a:solidFill>
                <a:latin typeface="Calibri" pitchFamily="34" charset="0"/>
                <a:ea typeface="Calibri" pitchFamily="34" charset="-122"/>
                <a:cs typeface="Calibri" pitchFamily="34" charset="-120"/>
              </a:rPr>
              <a:t>143</a:t>
            </a:r>
            <a:endParaRPr lang="en-US" sz="2600" dirty="0"/>
          </a:p>
        </p:txBody>
      </p:sp>
      <p:sp>
        <p:nvSpPr>
          <p:cNvPr id="24" name="Text 22"/>
          <p:cNvSpPr txBox="1"/>
          <p:nvPr/>
        </p:nvSpPr>
        <p:spPr>
          <a:xfrm>
            <a:off x="566928" y="2258568"/>
            <a:ext cx="2569464" cy="292608"/>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commits</a:t>
            </a:r>
            <a:endParaRPr lang="en-US" sz="950" dirty="0"/>
          </a:p>
        </p:txBody>
      </p:sp>
      <p:sp>
        <p:nvSpPr>
          <p:cNvPr id="25" name="Shape 23"/>
          <p:cNvSpPr/>
          <p:nvPr/>
        </p:nvSpPr>
        <p:spPr>
          <a:xfrm>
            <a:off x="457200" y="2642616"/>
            <a:ext cx="2788920" cy="713232"/>
          </a:xfrm>
          <a:prstGeom prst="roundRect">
            <a:avLst>
              <a:gd name="adj" fmla="val 10256"/>
            </a:avLst>
          </a:prstGeom>
          <a:solidFill>
            <a:srgbClr val="F3F4F6"/>
          </a:solidFill>
          <a:ln/>
        </p:spPr>
      </p:sp>
      <p:sp>
        <p:nvSpPr>
          <p:cNvPr id="26" name="Text 24"/>
          <p:cNvSpPr txBox="1"/>
          <p:nvPr/>
        </p:nvSpPr>
        <p:spPr>
          <a:xfrm>
            <a:off x="566928" y="2697480"/>
            <a:ext cx="2569464" cy="329184"/>
          </a:xfrm>
          <a:prstGeom prst="rect">
            <a:avLst/>
          </a:prstGeom>
          <a:noFill/>
          <a:ln/>
        </p:spPr>
        <p:txBody>
          <a:bodyPr wrap="square" lIns="0" tIns="0" rIns="0" bIns="0" rtlCol="0" anchor="t"/>
          <a:lstStyle/>
          <a:p>
            <a:pPr algn="l" indent="0" marL="0">
              <a:buNone/>
            </a:pPr>
            <a:r>
              <a:rPr lang="en-US" sz="2600" b="1" dirty="0">
                <a:solidFill>
                  <a:srgbClr val="0F766E"/>
                </a:solidFill>
                <a:latin typeface="Calibri" pitchFamily="34" charset="0"/>
                <a:ea typeface="Calibri" pitchFamily="34" charset="-122"/>
                <a:cs typeface="Calibri" pitchFamily="34" charset="-120"/>
              </a:rPr>
              <a:t>600+</a:t>
            </a:r>
            <a:endParaRPr lang="en-US" sz="2600" dirty="0"/>
          </a:p>
        </p:txBody>
      </p:sp>
      <p:sp>
        <p:nvSpPr>
          <p:cNvPr id="27" name="Text 25"/>
          <p:cNvSpPr txBox="1"/>
          <p:nvPr/>
        </p:nvSpPr>
        <p:spPr>
          <a:xfrm>
            <a:off x="566928" y="3026664"/>
            <a:ext cx="2569464" cy="292608"/>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tests, plus 20 parity checks against the Python prototype over 77 real listings</a:t>
            </a:r>
            <a:endParaRPr lang="en-US" sz="950" dirty="0"/>
          </a:p>
        </p:txBody>
      </p:sp>
      <p:sp>
        <p:nvSpPr>
          <p:cNvPr id="28" name="Shape 26"/>
          <p:cNvSpPr/>
          <p:nvPr/>
        </p:nvSpPr>
        <p:spPr>
          <a:xfrm>
            <a:off x="457200" y="3410712"/>
            <a:ext cx="2788920" cy="713232"/>
          </a:xfrm>
          <a:prstGeom prst="roundRect">
            <a:avLst>
              <a:gd name="adj" fmla="val 10256"/>
            </a:avLst>
          </a:prstGeom>
          <a:solidFill>
            <a:srgbClr val="F3F4F6"/>
          </a:solidFill>
          <a:ln/>
        </p:spPr>
      </p:sp>
      <p:sp>
        <p:nvSpPr>
          <p:cNvPr id="29" name="Text 27"/>
          <p:cNvSpPr txBox="1"/>
          <p:nvPr/>
        </p:nvSpPr>
        <p:spPr>
          <a:xfrm>
            <a:off x="566928" y="3465576"/>
            <a:ext cx="2569464" cy="329184"/>
          </a:xfrm>
          <a:prstGeom prst="rect">
            <a:avLst/>
          </a:prstGeom>
          <a:noFill/>
          <a:ln/>
        </p:spPr>
        <p:txBody>
          <a:bodyPr wrap="square" lIns="0" tIns="0" rIns="0" bIns="0" rtlCol="0" anchor="t"/>
          <a:lstStyle/>
          <a:p>
            <a:pPr algn="l" indent="0" marL="0">
              <a:buNone/>
            </a:pPr>
            <a:r>
              <a:rPr lang="en-US" sz="2600" b="1" dirty="0">
                <a:solidFill>
                  <a:srgbClr val="0F766E"/>
                </a:solidFill>
                <a:latin typeface="Calibri" pitchFamily="34" charset="0"/>
                <a:ea typeface="Calibri" pitchFamily="34" charset="-122"/>
                <a:cs typeface="Calibri" pitchFamily="34" charset="-120"/>
              </a:rPr>
              <a:t>12 / 12</a:t>
            </a:r>
            <a:endParaRPr lang="en-US" sz="2600" dirty="0"/>
          </a:p>
        </p:txBody>
      </p:sp>
      <p:sp>
        <p:nvSpPr>
          <p:cNvPr id="30" name="Text 28"/>
          <p:cNvSpPr txBox="1"/>
          <p:nvPr/>
        </p:nvSpPr>
        <p:spPr>
          <a:xfrm>
            <a:off x="566928" y="3794760"/>
            <a:ext cx="2569464" cy="292608"/>
          </a:xfrm>
          <a:prstGeom prst="rect">
            <a:avLst/>
          </a:prstGeom>
          <a:noFill/>
          <a:ln/>
        </p:spPr>
        <p:txBody>
          <a:bodyPr wrap="square" lIns="0" tIns="0" rIns="0" bIns="0" rtlCol="0" anchor="t"/>
          <a:lstStyle/>
          <a:p>
            <a:pPr algn="l" indent="0" marL="0">
              <a:buNone/>
            </a:pPr>
            <a:r>
              <a:rPr lang="en-US" sz="950" dirty="0">
                <a:solidFill>
                  <a:srgbClr val="6B7280"/>
                </a:solidFill>
                <a:latin typeface="Calibri" pitchFamily="34" charset="0"/>
                <a:ea typeface="Calibri" pitchFamily="34" charset="-122"/>
                <a:cs typeface="Calibri" pitchFamily="34" charset="-120"/>
              </a:rPr>
              <a:t>buildings drafted in the acceptance run, 65 photos verified by full download</a:t>
            </a:r>
            <a:endParaRPr lang="en-US" sz="950" dirty="0"/>
          </a:p>
        </p:txBody>
      </p:sp>
      <p:sp>
        <p:nvSpPr>
          <p:cNvPr id="31" name="Text 29"/>
          <p:cNvSpPr txBox="1"/>
          <p:nvPr/>
        </p:nvSpPr>
        <p:spPr>
          <a:xfrm>
            <a:off x="3520440" y="1856232"/>
            <a:ext cx="4709160" cy="27432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How</a:t>
            </a:r>
            <a:endParaRPr lang="en-US" sz="1300" dirty="0"/>
          </a:p>
        </p:txBody>
      </p:sp>
      <p:sp>
        <p:nvSpPr>
          <p:cNvPr id="32" name="Text 30"/>
          <p:cNvSpPr txBox="1"/>
          <p:nvPr/>
        </p:nvSpPr>
        <p:spPr>
          <a:xfrm>
            <a:off x="3520440" y="2148840"/>
            <a:ext cx="4709160" cy="1965960"/>
          </a:xfrm>
          <a:prstGeom prst="rect">
            <a:avLst/>
          </a:prstGeom>
          <a:noFill/>
          <a:ln/>
        </p:spPr>
        <p:txBody>
          <a:bodyPr wrap="square" lIns="0" tIns="0" rIns="0" bIns="0" rtlCol="0" anchor="t"/>
          <a:lstStyle/>
          <a:p>
            <a:pPr algn="l"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Claude Code daily. Agents routed by cost: a cheap model locates and does small edits, a mid model drafts and reviews, the top model decides architecture. Standing rules live in hooks, not in prompts.</a:t>
            </a:r>
            <a:endParaRPr lang="en-US" sz="1100" dirty="0"/>
          </a:p>
          <a:p>
            <a:pPr algn="l"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Test-first against the Python prototype: regenerate its output as fixtures, watch parity go red, port until green.</a:t>
            </a:r>
            <a:endParaRPr lang="en-US" sz="1100" dirty="0"/>
          </a:p>
          <a:p>
            <a:pPr algn="l" marL="342900" indent="-342900">
              <a:buSzPct val="100000"/>
              <a:buChar char="•"/>
            </a:pPr>
            <a:r>
              <a:rPr lang="en-US" sz="1100" dirty="0">
                <a:solidFill>
                  <a:srgbClr val="1F2937"/>
                </a:solidFill>
                <a:latin typeface="Calibri" pitchFamily="34" charset="0"/>
                <a:ea typeface="Calibri" pitchFamily="34" charset="-122"/>
                <a:cs typeface="Calibri" pitchFamily="34" charset="-120"/>
              </a:rPr>
              <a:t>Anything touching the live push path: own branch, forked route, additive-only shared library. The live route stays byte-identical until the new one proves itself.</a:t>
            </a:r>
            <a:endParaRPr lang="en-US" sz="1100" dirty="0"/>
          </a:p>
        </p:txBody>
      </p:sp>
      <p:sp>
        <p:nvSpPr>
          <p:cNvPr id="33" name="Text 31"/>
          <p:cNvSpPr txBox="1"/>
          <p:nvPr/>
        </p:nvSpPr>
        <p:spPr>
          <a:xfrm>
            <a:off x="457200" y="4251960"/>
            <a:ext cx="8229600" cy="274320"/>
          </a:xfrm>
          <a:prstGeom prst="rect">
            <a:avLst/>
          </a:prstGeom>
          <a:noFill/>
          <a:ln/>
        </p:spPr>
        <p:txBody>
          <a:bodyPr wrap="square" lIns="0" tIns="0" rIns="0" bIns="0" rtlCol="0" anchor="t"/>
          <a:lstStyle/>
          <a:p>
            <a:pPr algn="l" indent="0" marL="0">
              <a:buNone/>
            </a:pPr>
            <a:r>
              <a:rPr lang="en-US" sz="1200" b="1" dirty="0">
                <a:solidFill>
                  <a:srgbClr val="1F2937"/>
                </a:solidFill>
                <a:latin typeface="Calibri" pitchFamily="34" charset="0"/>
                <a:ea typeface="Calibri" pitchFamily="34" charset="-122"/>
                <a:cs typeface="Calibri" pitchFamily="34" charset="-120"/>
              </a:rPr>
              <a:t>Agents are fast and confident when wrong. One agent per building, and verify on disk, not on the agent's report.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Saying no, and handing over</a:t>
            </a:r>
            <a:endParaRPr lang="en-US" sz="2600" dirty="0"/>
          </a:p>
        </p:txBody>
      </p:sp>
      <p:sp>
        <p:nvSpPr>
          <p:cNvPr id="3" name="Shape 1"/>
          <p:cNvSpPr/>
          <p:nvPr/>
        </p:nvSpPr>
        <p:spPr>
          <a:xfrm>
            <a:off x="457200" y="960120"/>
            <a:ext cx="3977640" cy="3291840"/>
          </a:xfrm>
          <a:prstGeom prst="roundRect">
            <a:avLst>
              <a:gd name="adj" fmla="val 2222"/>
            </a:avLst>
          </a:prstGeom>
          <a:solidFill>
            <a:srgbClr val="F3F4F6"/>
          </a:solidFill>
          <a:ln/>
        </p:spPr>
      </p:sp>
      <p:sp>
        <p:nvSpPr>
          <p:cNvPr id="4" name="Text 2"/>
          <p:cNvSpPr txBox="1"/>
          <p:nvPr/>
        </p:nvSpPr>
        <p:spPr>
          <a:xfrm>
            <a:off x="640080" y="1106424"/>
            <a:ext cx="3611880" cy="29260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Held back on purpose</a:t>
            </a:r>
            <a:endParaRPr lang="en-US" sz="1400" dirty="0"/>
          </a:p>
        </p:txBody>
      </p:sp>
      <p:sp>
        <p:nvSpPr>
          <p:cNvPr id="5" name="Text 3"/>
          <p:cNvSpPr txBox="1"/>
          <p:nvPr/>
        </p:nvSpPr>
        <p:spPr>
          <a:xfrm>
            <a:off x="640080" y="1490472"/>
            <a:ext cx="3611880" cy="105156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31</a:t>
            </a:r>
            <a:pPr algn="l" indent="0" marL="0">
              <a:buNone/>
            </a:pPr>
            <a:r>
              <a:rPr lang="en-US" sz="1100" dirty="0">
                <a:solidFill>
                  <a:srgbClr val="1F2937"/>
                </a:solidFill>
                <a:latin typeface="Calibri" pitchFamily="34" charset="0"/>
                <a:ea typeface="Calibri" pitchFamily="34" charset="-122"/>
                <a:cs typeface="Calibri" pitchFamily="34" charset="-120"/>
              </a:rPr>
              <a:t> units listed by a code instead of an address. Every route to identify them was tried and written down; I refused to guess, because a wrong guess publishes a real building under someone else's floor.</a:t>
            </a:r>
            <a:endParaRPr lang="en-US" sz="1100" dirty="0"/>
          </a:p>
        </p:txBody>
      </p:sp>
      <p:sp>
        <p:nvSpPr>
          <p:cNvPr id="6" name="Text 4"/>
          <p:cNvSpPr txBox="1"/>
          <p:nvPr/>
        </p:nvSpPr>
        <p:spPr>
          <a:xfrm>
            <a:off x="640080" y="2542032"/>
            <a:ext cx="3611880" cy="54864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23</a:t>
            </a:r>
            <a:pPr algn="l" indent="0" marL="0">
              <a:buNone/>
            </a:pPr>
            <a:r>
              <a:rPr lang="en-US" sz="1100" dirty="0">
                <a:solidFill>
                  <a:srgbClr val="1F2937"/>
                </a:solidFill>
                <a:latin typeface="Calibri" pitchFamily="34" charset="0"/>
                <a:ea typeface="Calibri" pitchFamily="34" charset="-122"/>
                <a:cs typeface="Calibri" pitchFamily="34" charset="-120"/>
              </a:rPr>
              <a:t> update candidates paired to the wrong live building. Flagged, not pushed.</a:t>
            </a:r>
            <a:endParaRPr lang="en-US" sz="1100" dirty="0"/>
          </a:p>
        </p:txBody>
      </p:sp>
      <p:sp>
        <p:nvSpPr>
          <p:cNvPr id="7" name="Text 5"/>
          <p:cNvSpPr txBox="1"/>
          <p:nvPr/>
        </p:nvSpPr>
        <p:spPr>
          <a:xfrm>
            <a:off x="640080" y="3090672"/>
            <a:ext cx="3611880" cy="50292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7 of 10</a:t>
            </a:r>
            <a:pPr algn="l" indent="0" marL="0">
              <a:buNone/>
            </a:pPr>
            <a:r>
              <a:rPr lang="en-US" sz="1100" dirty="0">
                <a:solidFill>
                  <a:srgbClr val="1F2937"/>
                </a:solidFill>
                <a:latin typeface="Calibri" pitchFamily="34" charset="0"/>
                <a:ea typeface="Calibri" pitchFamily="34" charset="-122"/>
                <a:cs typeface="Calibri" pitchFamily="34" charset="-120"/>
              </a:rPr>
              <a:t> Runway East sites already live. Paused, not drafted.</a:t>
            </a:r>
            <a:endParaRPr lang="en-US" sz="1100" dirty="0"/>
          </a:p>
        </p:txBody>
      </p:sp>
      <p:sp>
        <p:nvSpPr>
          <p:cNvPr id="8" name="Text 6"/>
          <p:cNvSpPr txBox="1"/>
          <p:nvPr/>
        </p:nvSpPr>
        <p:spPr>
          <a:xfrm>
            <a:off x="640080" y="3593592"/>
            <a:ext cx="3611880" cy="777240"/>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9</a:t>
            </a:r>
            <a:pPr algn="l" indent="0" marL="0">
              <a:buNone/>
            </a:pPr>
            <a:r>
              <a:rPr lang="en-US" sz="1100" dirty="0">
                <a:solidFill>
                  <a:srgbClr val="1F2937"/>
                </a:solidFill>
                <a:latin typeface="Calibri" pitchFamily="34" charset="0"/>
                <a:ea typeface="Calibri" pitchFamily="34" charset="-122"/>
                <a:cs typeface="Calibri" pitchFamily="34" charset="-120"/>
              </a:rPr>
              <a:t> drafts left with tenure null. Evidence did not resolve; null means nobody could tell, not nobody looked.</a:t>
            </a:r>
            <a:endParaRPr lang="en-US" sz="1100" dirty="0"/>
          </a:p>
        </p:txBody>
      </p:sp>
      <p:sp>
        <p:nvSpPr>
          <p:cNvPr id="9" name="Shape 7"/>
          <p:cNvSpPr/>
          <p:nvPr/>
        </p:nvSpPr>
        <p:spPr>
          <a:xfrm>
            <a:off x="4709160" y="960120"/>
            <a:ext cx="3977640" cy="3291840"/>
          </a:xfrm>
          <a:prstGeom prst="roundRect">
            <a:avLst>
              <a:gd name="adj" fmla="val 2222"/>
            </a:avLst>
          </a:prstGeom>
          <a:solidFill>
            <a:srgbClr val="F3F4F6"/>
          </a:solidFill>
          <a:ln/>
        </p:spPr>
      </p:sp>
      <p:sp>
        <p:nvSpPr>
          <p:cNvPr id="10" name="Text 8"/>
          <p:cNvSpPr txBox="1"/>
          <p:nvPr/>
        </p:nvSpPr>
        <p:spPr>
          <a:xfrm>
            <a:off x="4892040" y="1106424"/>
            <a:ext cx="3611880" cy="29260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Handover pack, 31 July 2026</a:t>
            </a:r>
            <a:endParaRPr lang="en-US" sz="1400" dirty="0"/>
          </a:p>
        </p:txBody>
      </p:sp>
      <p:sp>
        <p:nvSpPr>
          <p:cNvPr id="11" name="Text 9"/>
          <p:cNvSpPr txBox="1"/>
          <p:nvPr/>
        </p:nvSpPr>
        <p:spPr>
          <a:xfrm>
            <a:off x="4892040" y="1490472"/>
            <a:ext cx="3611880" cy="384048"/>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README</a:t>
            </a:r>
            <a:pPr algn="l" indent="0" marL="0">
              <a:buNone/>
            </a:pPr>
            <a:r>
              <a:rPr lang="en-US" sz="1100" dirty="0">
                <a:solidFill>
                  <a:srgbClr val="1F2937"/>
                </a:solidFill>
                <a:latin typeface="Calibri" pitchFamily="34" charset="0"/>
                <a:ea typeface="Calibri" pitchFamily="34" charset="-122"/>
                <a:cs typeface="Calibri" pitchFamily="34" charset="-120"/>
              </a:rPr>
              <a:t> — what is finished, what is left, what cannot be run from where you are</a:t>
            </a:r>
            <a:endParaRPr lang="en-US" sz="1100" dirty="0"/>
          </a:p>
        </p:txBody>
      </p:sp>
      <p:sp>
        <p:nvSpPr>
          <p:cNvPr id="12" name="Text 10"/>
          <p:cNvSpPr txBox="1"/>
          <p:nvPr/>
        </p:nvSpPr>
        <p:spPr>
          <a:xfrm>
            <a:off x="4892040" y="1874520"/>
            <a:ext cx="3611880" cy="347472"/>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STATE</a:t>
            </a:r>
            <a:pPr algn="l" indent="0" marL="0">
              <a:buNone/>
            </a:pPr>
            <a:r>
              <a:rPr lang="en-US" sz="1100" dirty="0">
                <a:solidFill>
                  <a:srgbClr val="1F2937"/>
                </a:solidFill>
                <a:latin typeface="Calibri" pitchFamily="34" charset="0"/>
                <a:ea typeface="Calibri" pitchFamily="34" charset="-122"/>
                <a:cs typeface="Calibri" pitchFamily="34" charset="-120"/>
              </a:rPr>
              <a:t> — counts, verdicts, two pipeline bugs found and closed</a:t>
            </a:r>
            <a:endParaRPr lang="en-US" sz="1100" dirty="0"/>
          </a:p>
        </p:txBody>
      </p:sp>
      <p:sp>
        <p:nvSpPr>
          <p:cNvPr id="13" name="Text 11"/>
          <p:cNvSpPr txBox="1"/>
          <p:nvPr/>
        </p:nvSpPr>
        <p:spPr>
          <a:xfrm>
            <a:off x="4892040" y="2221992"/>
            <a:ext cx="3611880" cy="292608"/>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PIPELINE</a:t>
            </a:r>
            <a:pPr algn="l" indent="0" marL="0">
              <a:buNone/>
            </a:pPr>
            <a:r>
              <a:rPr lang="en-US" sz="1100" dirty="0">
                <a:solidFill>
                  <a:srgbClr val="1F2937"/>
                </a:solidFill>
                <a:latin typeface="Calibri" pitchFamily="34" charset="0"/>
                <a:ea typeface="Calibri" pitchFamily="34" charset="-122"/>
                <a:cs typeface="Calibri" pitchFamily="34" charset="-120"/>
              </a:rPr>
              <a:t> — how to resume the machinery</a:t>
            </a:r>
            <a:endParaRPr lang="en-US" sz="1100" dirty="0"/>
          </a:p>
        </p:txBody>
      </p:sp>
      <p:sp>
        <p:nvSpPr>
          <p:cNvPr id="14" name="Text 12"/>
          <p:cNvSpPr txBox="1"/>
          <p:nvPr/>
        </p:nvSpPr>
        <p:spPr>
          <a:xfrm>
            <a:off x="4892040" y="2514600"/>
            <a:ext cx="3611880" cy="347472"/>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DEFECTS_FOR_TEAM</a:t>
            </a:r>
            <a:pPr algn="l" indent="0" marL="0">
              <a:buNone/>
            </a:pPr>
            <a:r>
              <a:rPr lang="en-US" sz="1100" dirty="0">
                <a:solidFill>
                  <a:srgbClr val="1F2937"/>
                </a:solidFill>
                <a:latin typeface="Calibri" pitchFamily="34" charset="0"/>
                <a:ea typeface="Calibri" pitchFamily="34" charset="-122"/>
                <a:cs typeface="Calibri" pitchFamily="34" charset="-120"/>
              </a:rPr>
              <a:t> — source-sheet bugs to fix upstream</a:t>
            </a:r>
            <a:endParaRPr lang="en-US" sz="1100" dirty="0"/>
          </a:p>
        </p:txBody>
      </p:sp>
      <p:sp>
        <p:nvSpPr>
          <p:cNvPr id="15" name="Text 13"/>
          <p:cNvSpPr txBox="1"/>
          <p:nvPr/>
        </p:nvSpPr>
        <p:spPr>
          <a:xfrm>
            <a:off x="4892040" y="2862072"/>
            <a:ext cx="3611880" cy="347472"/>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PROD_CLEANUP</a:t>
            </a:r>
            <a:pPr algn="l" indent="0" marL="0">
              <a:buNone/>
            </a:pPr>
            <a:r>
              <a:rPr lang="en-US" sz="1100" dirty="0">
                <a:solidFill>
                  <a:srgbClr val="1F2937"/>
                </a:solidFill>
                <a:latin typeface="Calibri" pitchFamily="34" charset="0"/>
                <a:ea typeface="Calibri" pitchFamily="34" charset="-122"/>
                <a:cs typeface="Calibri" pitchFamily="34" charset="-120"/>
              </a:rPr>
              <a:t> — 13 duplicate pairs live on the site</a:t>
            </a:r>
            <a:endParaRPr lang="en-US" sz="1100" dirty="0"/>
          </a:p>
        </p:txBody>
      </p:sp>
      <p:sp>
        <p:nvSpPr>
          <p:cNvPr id="16" name="Text 14"/>
          <p:cNvSpPr txBox="1"/>
          <p:nvPr/>
        </p:nvSpPr>
        <p:spPr>
          <a:xfrm>
            <a:off x="4892040" y="3209544"/>
            <a:ext cx="3611880" cy="347472"/>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OPEN_ACTIONS</a:t>
            </a:r>
            <a:pPr algn="l" indent="0" marL="0">
              <a:buNone/>
            </a:pPr>
            <a:r>
              <a:rPr lang="en-US" sz="1100" dirty="0">
                <a:solidFill>
                  <a:srgbClr val="1F2937"/>
                </a:solidFill>
                <a:latin typeface="Calibri" pitchFamily="34" charset="0"/>
                <a:ea typeface="Calibri" pitchFamily="34" charset="-122"/>
                <a:cs typeface="Calibri" pitchFamily="34" charset="-120"/>
              </a:rPr>
              <a:t> — the human to-do list, with draft emails</a:t>
            </a:r>
            <a:endParaRPr lang="en-US" sz="1100" dirty="0"/>
          </a:p>
        </p:txBody>
      </p:sp>
      <p:sp>
        <p:nvSpPr>
          <p:cNvPr id="17" name="Text 15"/>
          <p:cNvSpPr txBox="1"/>
          <p:nvPr/>
        </p:nvSpPr>
        <p:spPr>
          <a:xfrm>
            <a:off x="4892040" y="3557016"/>
            <a:ext cx="3611880" cy="347472"/>
          </a:xfrm>
          <a:prstGeom prst="rect">
            <a:avLst/>
          </a:prstGeom>
          <a:noFill/>
          <a:ln/>
        </p:spPr>
        <p:txBody>
          <a:bodyPr wrap="square" lIns="381" tIns="381" rIns="381" bIns="381"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ledgers and validators</a:t>
            </a:r>
            <a:pPr algn="l" indent="0" marL="0">
              <a:buNone/>
            </a:pPr>
            <a:r>
              <a:rPr lang="en-US" sz="1100" dirty="0">
                <a:solidFill>
                  <a:srgbClr val="1F2937"/>
                </a:solidFill>
                <a:latin typeface="Calibri" pitchFamily="34" charset="0"/>
                <a:ea typeface="Calibri" pitchFamily="34" charset="-122"/>
                <a:cs typeface="Calibri" pitchFamily="34" charset="-120"/>
              </a:rPr>
              <a:t> — the working record, verbatim</a:t>
            </a:r>
            <a:endParaRPr lang="en-US" sz="1100" dirty="0"/>
          </a:p>
        </p:txBody>
      </p:sp>
      <p:sp>
        <p:nvSpPr>
          <p:cNvPr id="18" name="Text 16"/>
          <p:cNvSpPr txBox="1"/>
          <p:nvPr/>
        </p:nvSpPr>
        <p:spPr>
          <a:xfrm>
            <a:off x="457200" y="4370832"/>
            <a:ext cx="8229600" cy="502920"/>
          </a:xfrm>
          <a:prstGeom prst="rect">
            <a:avLst/>
          </a:prstGeom>
          <a:noFill/>
          <a:ln/>
        </p:spPr>
        <p:txBody>
          <a:bodyPr wrap="square" lIns="0" tIns="0" rIns="0" bIns="0" rtlCol="0" anchor="t"/>
          <a:lstStyle/>
          <a:p>
            <a:pPr algn="l" indent="0" marL="0">
              <a:buNone/>
            </a:pPr>
            <a:r>
              <a:rPr lang="en-US" sz="1150" b="1" dirty="0">
                <a:solidFill>
                  <a:srgbClr val="0F766E"/>
                </a:solidFill>
                <a:latin typeface="Calibri" pitchFamily="34" charset="0"/>
                <a:ea typeface="Calibri" pitchFamily="34" charset="-122"/>
                <a:cs typeface="Calibri" pitchFamily="34" charset="-120"/>
              </a:rPr>
              <a:t>114 live</a:t>
            </a:r>
            <a:pPr algn="l" indent="0" marL="0">
              <a:buNone/>
            </a:pPr>
            <a:r>
              <a:rPr lang="en-US" sz="1150" dirty="0">
                <a:solidFill>
                  <a:srgbClr val="6B7280"/>
                </a:solidFill>
                <a:latin typeface="Calibri" pitchFamily="34" charset="0"/>
                <a:ea typeface="Calibri" pitchFamily="34" charset="-122"/>
                <a:cs typeface="Calibri" pitchFamily="34" charset="-120"/>
              </a:rPr>
              <a:t>  ·  </a:t>
            </a:r>
            <a:pPr algn="l" indent="0" marL="0">
              <a:buNone/>
            </a:pPr>
            <a:r>
              <a:rPr lang="en-US" sz="1150" b="1" dirty="0">
                <a:solidFill>
                  <a:srgbClr val="0F766E"/>
                </a:solidFill>
                <a:latin typeface="Calibri" pitchFamily="34" charset="0"/>
                <a:ea typeface="Calibri" pitchFamily="34" charset="-122"/>
                <a:cs typeface="Calibri" pitchFamily="34" charset="-120"/>
              </a:rPr>
              <a:t>445 create drafts + 134 update candidates as proposals</a:t>
            </a:r>
            <a:pPr algn="l" indent="0" marL="0">
              <a:buNone/>
            </a:pPr>
            <a:r>
              <a:rPr lang="en-US" sz="1150" dirty="0">
                <a:solidFill>
                  <a:srgbClr val="6B7280"/>
                </a:solidFill>
                <a:latin typeface="Calibri" pitchFamily="34" charset="0"/>
                <a:ea typeface="Calibri" pitchFamily="34" charset="-122"/>
                <a:cs typeface="Calibri" pitchFamily="34" charset="-120"/>
              </a:rPr>
              <a:t>  ·  </a:t>
            </a:r>
            <a:pPr algn="l" indent="0" marL="0">
              <a:buNone/>
            </a:pPr>
            <a:r>
              <a:rPr lang="en-US" sz="1150" b="1" dirty="0">
                <a:solidFill>
                  <a:srgbClr val="0F766E"/>
                </a:solidFill>
                <a:latin typeface="Calibri" pitchFamily="34" charset="0"/>
                <a:ea typeface="Calibri" pitchFamily="34" charset="-122"/>
                <a:cs typeface="Calibri" pitchFamily="34" charset="-120"/>
              </a:rPr>
              <a:t>roughly 450 to 675 hours of re-keying turned into minutes of review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Same loop, other businesses</a:t>
            </a:r>
            <a:endParaRPr lang="en-US" sz="2600" dirty="0"/>
          </a:p>
        </p:txBody>
      </p:sp>
      <p:sp>
        <p:nvSpPr>
          <p:cNvPr id="3" name="Shape 1"/>
          <p:cNvSpPr/>
          <p:nvPr/>
        </p:nvSpPr>
        <p:spPr>
          <a:xfrm>
            <a:off x="457200" y="777240"/>
            <a:ext cx="2621585" cy="3063240"/>
          </a:xfrm>
          <a:prstGeom prst="roundRect">
            <a:avLst>
              <a:gd name="adj" fmla="val 2790"/>
            </a:avLst>
          </a:prstGeom>
          <a:solidFill>
            <a:srgbClr val="F3F4F6"/>
          </a:solidFill>
          <a:ln/>
        </p:spPr>
      </p:sp>
      <p:sp>
        <p:nvSpPr>
          <p:cNvPr id="4" name="Text 2"/>
          <p:cNvSpPr txBox="1"/>
          <p:nvPr/>
        </p:nvSpPr>
        <p:spPr>
          <a:xfrm>
            <a:off x="594360" y="886968"/>
            <a:ext cx="2347265" cy="384048"/>
          </a:xfrm>
          <a:prstGeom prst="rect">
            <a:avLst/>
          </a:prstGeom>
          <a:noFill/>
          <a:ln/>
        </p:spPr>
        <p:txBody>
          <a:bodyPr wrap="square" lIns="0" tIns="0" rIns="0" bIns="0" rtlCol="0" anchor="t"/>
          <a:lstStyle/>
          <a:p>
            <a:pPr algn="l" indent="0" marL="0">
              <a:buNone/>
            </a:pPr>
            <a:r>
              <a:rPr lang="en-US" sz="1250" b="1" dirty="0">
                <a:solidFill>
                  <a:srgbClr val="1F2937"/>
                </a:solidFill>
                <a:latin typeface="Calibri" pitchFamily="34" charset="0"/>
                <a:ea typeface="Calibri" pitchFamily="34" charset="-122"/>
                <a:cs typeface="Calibri" pitchFamily="34" charset="-120"/>
              </a:rPr>
              <a:t>UltraStrategy · France · 2024 to 2025</a:t>
            </a:r>
            <a:endParaRPr lang="en-US" sz="1250" dirty="0"/>
          </a:p>
        </p:txBody>
      </p:sp>
      <p:sp>
        <p:nvSpPr>
          <p:cNvPr id="5" name="Text 3"/>
          <p:cNvSpPr txBox="1"/>
          <p:nvPr/>
        </p:nvSpPr>
        <p:spPr>
          <a:xfrm>
            <a:off x="594360" y="1307592"/>
            <a:ext cx="2347265" cy="56692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Mess —</a:t>
            </a:r>
            <a:pPr algn="l" indent="0" marL="0">
              <a:buNone/>
            </a:pPr>
            <a:r>
              <a:rPr lang="en-US" sz="1000" dirty="0">
                <a:solidFill>
                  <a:srgbClr val="1F2937"/>
                </a:solidFill>
                <a:latin typeface="Calibri" pitchFamily="34" charset="0"/>
                <a:ea typeface="Calibri" pitchFamily="34" charset="-122"/>
                <a:cs typeface="Calibri" pitchFamily="34" charset="-120"/>
              </a:rPr>
              <a:t> Recruiters reading every CV by hand; no comparable format across candidates.</a:t>
            </a:r>
            <a:endParaRPr lang="en-US" sz="1000" dirty="0"/>
          </a:p>
        </p:txBody>
      </p:sp>
      <p:sp>
        <p:nvSpPr>
          <p:cNvPr id="6" name="Text 4"/>
          <p:cNvSpPr txBox="1"/>
          <p:nvPr/>
        </p:nvSpPr>
        <p:spPr>
          <a:xfrm>
            <a:off x="594360" y="1874520"/>
            <a:ext cx="2347265" cy="102412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Built —</a:t>
            </a:r>
            <a:pPr algn="l" indent="0" marL="0">
              <a:buNone/>
            </a:pPr>
            <a:r>
              <a:rPr lang="en-US" sz="1000" dirty="0">
                <a:solidFill>
                  <a:srgbClr val="1F2937"/>
                </a:solidFill>
                <a:latin typeface="Calibri" pitchFamily="34" charset="0"/>
                <a:ea typeface="Calibri" pitchFamily="34" charset="-122"/>
                <a:cs typeface="Calibri" pitchFamily="34" charset="-120"/>
              </a:rPr>
              <a:t> CV-parsing pipeline inside their platform: upload, Affinda extraction, Claude assesses relevance per role type, result shown in the frontend, then a standardised Ultra CV is generated. n8n and Eden AI in the workflow.</a:t>
            </a:r>
            <a:endParaRPr lang="en-US" sz="1000" dirty="0"/>
          </a:p>
        </p:txBody>
      </p:sp>
      <p:sp>
        <p:nvSpPr>
          <p:cNvPr id="7" name="Text 5"/>
          <p:cNvSpPr txBox="1"/>
          <p:nvPr/>
        </p:nvSpPr>
        <p:spPr>
          <a:xfrm>
            <a:off x="594360" y="2898648"/>
            <a:ext cx="2347265" cy="777240"/>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Decision —</a:t>
            </a:r>
            <a:pPr algn="l" indent="0" marL="0">
              <a:buNone/>
            </a:pPr>
            <a:r>
              <a:rPr lang="en-US" sz="1000" dirty="0">
                <a:solidFill>
                  <a:srgbClr val="1F2937"/>
                </a:solidFill>
                <a:latin typeface="Calibri" pitchFamily="34" charset="0"/>
                <a:ea typeface="Calibri" pitchFamily="34" charset="-122"/>
                <a:cs typeface="Calibri" pitchFamily="34" charset="-120"/>
              </a:rPr>
              <a:t> Three separate steps, extraction, assessment, generation, so each could be checked on its own.</a:t>
            </a:r>
            <a:endParaRPr lang="en-US" sz="1000" dirty="0"/>
          </a:p>
        </p:txBody>
      </p:sp>
      <p:sp>
        <p:nvSpPr>
          <p:cNvPr id="8" name="Shape 6"/>
          <p:cNvSpPr/>
          <p:nvPr/>
        </p:nvSpPr>
        <p:spPr>
          <a:xfrm>
            <a:off x="3261665" y="777240"/>
            <a:ext cx="2621585" cy="3063240"/>
          </a:xfrm>
          <a:prstGeom prst="roundRect">
            <a:avLst>
              <a:gd name="adj" fmla="val 2790"/>
            </a:avLst>
          </a:prstGeom>
          <a:solidFill>
            <a:srgbClr val="F3F4F6"/>
          </a:solidFill>
          <a:ln/>
        </p:spPr>
      </p:sp>
      <p:sp>
        <p:nvSpPr>
          <p:cNvPr id="9" name="Text 7"/>
          <p:cNvSpPr txBox="1"/>
          <p:nvPr/>
        </p:nvSpPr>
        <p:spPr>
          <a:xfrm>
            <a:off x="3398825" y="886968"/>
            <a:ext cx="2347265" cy="384048"/>
          </a:xfrm>
          <a:prstGeom prst="rect">
            <a:avLst/>
          </a:prstGeom>
          <a:noFill/>
          <a:ln/>
        </p:spPr>
        <p:txBody>
          <a:bodyPr wrap="square" lIns="0" tIns="0" rIns="0" bIns="0" rtlCol="0" anchor="t"/>
          <a:lstStyle/>
          <a:p>
            <a:pPr algn="l" indent="0" marL="0">
              <a:buNone/>
            </a:pPr>
            <a:r>
              <a:rPr lang="en-US" sz="1250" b="1" dirty="0">
                <a:solidFill>
                  <a:srgbClr val="1F2937"/>
                </a:solidFill>
                <a:latin typeface="Calibri" pitchFamily="34" charset="0"/>
                <a:ea typeface="Calibri" pitchFamily="34" charset="-122"/>
                <a:cs typeface="Calibri" pitchFamily="34" charset="-120"/>
              </a:rPr>
              <a:t>FlowSpace · London · 2024 to 2026</a:t>
            </a:r>
            <a:endParaRPr lang="en-US" sz="1250" dirty="0"/>
          </a:p>
        </p:txBody>
      </p:sp>
      <p:sp>
        <p:nvSpPr>
          <p:cNvPr id="10" name="Text 8"/>
          <p:cNvSpPr txBox="1"/>
          <p:nvPr/>
        </p:nvSpPr>
        <p:spPr>
          <a:xfrm>
            <a:off x="3398825" y="1307592"/>
            <a:ext cx="2347265" cy="56692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Mess —</a:t>
            </a:r>
            <a:pPr algn="l" indent="0" marL="0">
              <a:buNone/>
            </a:pPr>
            <a:r>
              <a:rPr lang="en-US" sz="1000" dirty="0">
                <a:solidFill>
                  <a:srgbClr val="1F2937"/>
                </a:solidFill>
                <a:latin typeface="Calibri" pitchFamily="34" charset="0"/>
                <a:ea typeface="Calibri" pitchFamily="34" charset="-122"/>
                <a:cs typeface="Calibri" pitchFamily="34" charset="-120"/>
              </a:rPr>
              <a:t> A live marketplace on a legacy stack; members booking every day during the migration.</a:t>
            </a:r>
            <a:endParaRPr lang="en-US" sz="1000" dirty="0"/>
          </a:p>
        </p:txBody>
      </p:sp>
      <p:sp>
        <p:nvSpPr>
          <p:cNvPr id="11" name="Text 9"/>
          <p:cNvSpPr txBox="1"/>
          <p:nvPr/>
        </p:nvSpPr>
        <p:spPr>
          <a:xfrm>
            <a:off x="3398825" y="1874520"/>
            <a:ext cx="2347265" cy="102412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Built —</a:t>
            </a:r>
            <a:pPr algn="l" indent="0" marL="0">
              <a:buNone/>
            </a:pPr>
            <a:r>
              <a:rPr lang="en-US" sz="1000" dirty="0">
                <a:solidFill>
                  <a:srgbClr val="1F2937"/>
                </a:solidFill>
                <a:latin typeface="Calibri" pitchFamily="34" charset="0"/>
                <a:ea typeface="Calibri" pitchFamily="34" charset="-122"/>
                <a:cs typeface="Calibri" pitchFamily="34" charset="-120"/>
              </a:rPr>
              <a:t> Next.js and Laravel, with the per-entity data migration automated.</a:t>
            </a:r>
            <a:endParaRPr lang="en-US" sz="1000" dirty="0"/>
          </a:p>
        </p:txBody>
      </p:sp>
      <p:sp>
        <p:nvSpPr>
          <p:cNvPr id="12" name="Text 10"/>
          <p:cNvSpPr txBox="1"/>
          <p:nvPr/>
        </p:nvSpPr>
        <p:spPr>
          <a:xfrm>
            <a:off x="3398825" y="2898648"/>
            <a:ext cx="2347265" cy="777240"/>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Decision —</a:t>
            </a:r>
            <a:pPr algn="l" indent="0" marL="0">
              <a:buNone/>
            </a:pPr>
            <a:r>
              <a:rPr lang="en-US" sz="1000" dirty="0">
                <a:solidFill>
                  <a:srgbClr val="1F2937"/>
                </a:solidFill>
                <a:latin typeface="Calibri" pitchFamily="34" charset="0"/>
                <a:ea typeface="Calibri" pitchFamily="34" charset="-122"/>
                <a:cs typeface="Calibri" pitchFamily="34" charset="-120"/>
              </a:rPr>
              <a:t> API sync for anything still changing (bookings, users), one-time CSV for frozen records; each entity cut over on its own date. 2,000 to 4,500+ users.</a:t>
            </a:r>
            <a:endParaRPr lang="en-US" sz="1000" dirty="0"/>
          </a:p>
        </p:txBody>
      </p:sp>
      <p:sp>
        <p:nvSpPr>
          <p:cNvPr id="13" name="Shape 11"/>
          <p:cNvSpPr/>
          <p:nvPr/>
        </p:nvSpPr>
        <p:spPr>
          <a:xfrm>
            <a:off x="6066130" y="777240"/>
            <a:ext cx="2621585" cy="3063240"/>
          </a:xfrm>
          <a:prstGeom prst="roundRect">
            <a:avLst>
              <a:gd name="adj" fmla="val 2790"/>
            </a:avLst>
          </a:prstGeom>
          <a:solidFill>
            <a:srgbClr val="F3F4F6"/>
          </a:solidFill>
          <a:ln/>
        </p:spPr>
      </p:sp>
      <p:sp>
        <p:nvSpPr>
          <p:cNvPr id="14" name="Text 12"/>
          <p:cNvSpPr txBox="1"/>
          <p:nvPr/>
        </p:nvSpPr>
        <p:spPr>
          <a:xfrm>
            <a:off x="6203290" y="886968"/>
            <a:ext cx="2347265" cy="384048"/>
          </a:xfrm>
          <a:prstGeom prst="rect">
            <a:avLst/>
          </a:prstGeom>
          <a:noFill/>
          <a:ln/>
        </p:spPr>
        <p:txBody>
          <a:bodyPr wrap="square" lIns="0" tIns="0" rIns="0" bIns="0" rtlCol="0" anchor="t"/>
          <a:lstStyle/>
          <a:p>
            <a:pPr algn="l" indent="0" marL="0">
              <a:buNone/>
            </a:pPr>
            <a:r>
              <a:rPr lang="en-US" sz="1250" b="1" dirty="0">
                <a:solidFill>
                  <a:srgbClr val="1F2937"/>
                </a:solidFill>
                <a:latin typeface="Calibri" pitchFamily="34" charset="0"/>
                <a:ea typeface="Calibri" pitchFamily="34" charset="-122"/>
                <a:cs typeface="Calibri" pitchFamily="34" charset="-120"/>
              </a:rPr>
              <a:t>Urlink · Barcelona · 2025</a:t>
            </a:r>
            <a:endParaRPr lang="en-US" sz="1250" dirty="0"/>
          </a:p>
        </p:txBody>
      </p:sp>
      <p:sp>
        <p:nvSpPr>
          <p:cNvPr id="15" name="Text 13"/>
          <p:cNvSpPr txBox="1"/>
          <p:nvPr/>
        </p:nvSpPr>
        <p:spPr>
          <a:xfrm>
            <a:off x="6203290" y="1307592"/>
            <a:ext cx="2347265" cy="56692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Mess —</a:t>
            </a:r>
            <a:pPr algn="l" indent="0" marL="0">
              <a:buNone/>
            </a:pPr>
            <a:r>
              <a:rPr lang="en-US" sz="1000" dirty="0">
                <a:solidFill>
                  <a:srgbClr val="1F2937"/>
                </a:solidFill>
                <a:latin typeface="Calibri" pitchFamily="34" charset="0"/>
                <a:ea typeface="Calibri" pitchFamily="34" charset="-122"/>
                <a:cs typeface="Calibri" pitchFamily="34" charset="-120"/>
              </a:rPr>
              <a:t> Client requirements, no specification, a platform to build.</a:t>
            </a:r>
            <a:endParaRPr lang="en-US" sz="1000" dirty="0"/>
          </a:p>
        </p:txBody>
      </p:sp>
      <p:sp>
        <p:nvSpPr>
          <p:cNvPr id="16" name="Text 14"/>
          <p:cNvSpPr txBox="1"/>
          <p:nvPr/>
        </p:nvSpPr>
        <p:spPr>
          <a:xfrm>
            <a:off x="6203290" y="1874520"/>
            <a:ext cx="2347265" cy="1024128"/>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Built —</a:t>
            </a:r>
            <a:pPr algn="l" indent="0" marL="0">
              <a:buNone/>
            </a:pPr>
            <a:r>
              <a:rPr lang="en-US" sz="1000" dirty="0">
                <a:solidFill>
                  <a:srgbClr val="1F2937"/>
                </a:solidFill>
                <a:latin typeface="Calibri" pitchFamily="34" charset="0"/>
                <a:ea typeface="Calibri" pitchFamily="34" charset="-122"/>
                <a:cs typeface="Calibri" pitchFamily="34" charset="-120"/>
              </a:rPr>
              <a:t> The platform and its client-driven automations, AI-assisted: Next.js, Supabase, Netlify.</a:t>
            </a:r>
            <a:endParaRPr lang="en-US" sz="1000" dirty="0"/>
          </a:p>
        </p:txBody>
      </p:sp>
      <p:sp>
        <p:nvSpPr>
          <p:cNvPr id="17" name="Text 15"/>
          <p:cNvSpPr txBox="1"/>
          <p:nvPr/>
        </p:nvSpPr>
        <p:spPr>
          <a:xfrm>
            <a:off x="6203290" y="2898648"/>
            <a:ext cx="2347265" cy="777240"/>
          </a:xfrm>
          <a:prstGeom prst="rect">
            <a:avLst/>
          </a:prstGeom>
          <a:noFill/>
          <a:ln/>
        </p:spPr>
        <p:txBody>
          <a:bodyPr wrap="square" lIns="381" tIns="381" rIns="381" bIns="381" rtlCol="0" anchor="t"/>
          <a:lstStyle/>
          <a:p>
            <a:pPr algn="l" indent="0" marL="0">
              <a:buNone/>
            </a:pPr>
            <a:r>
              <a:rPr lang="en-US" sz="1000" b="1" dirty="0">
                <a:solidFill>
                  <a:srgbClr val="0F766E"/>
                </a:solidFill>
                <a:latin typeface="Calibri" pitchFamily="34" charset="0"/>
                <a:ea typeface="Calibri" pitchFamily="34" charset="-122"/>
                <a:cs typeface="Calibri" pitchFamily="34" charset="-120"/>
              </a:rPr>
              <a:t>Decision —</a:t>
            </a:r>
            <a:pPr algn="l" indent="0" marL="0">
              <a:buNone/>
            </a:pPr>
            <a:r>
              <a:rPr lang="en-US" sz="1000" dirty="0">
                <a:solidFill>
                  <a:srgbClr val="1F2937"/>
                </a:solidFill>
                <a:latin typeface="Calibri" pitchFamily="34" charset="0"/>
                <a:ea typeface="Calibri" pitchFamily="34" charset="-122"/>
                <a:cs typeface="Calibri" pitchFamily="34" charset="-120"/>
              </a:rPr>
              <a:t> One seat for project manager and builder: write the requirement with the client, then build it.</a:t>
            </a:r>
            <a:endParaRPr lang="en-US" sz="1000" dirty="0"/>
          </a:p>
        </p:txBody>
      </p:sp>
      <p:sp>
        <p:nvSpPr>
          <p:cNvPr id="18" name="Text 16"/>
          <p:cNvSpPr txBox="1"/>
          <p:nvPr/>
        </p:nvSpPr>
        <p:spPr>
          <a:xfrm>
            <a:off x="457200" y="3950208"/>
            <a:ext cx="8229600" cy="73152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Also at FlowSpace: support agents answering from live platform data with escalation on low confidence; OfficeRnD and Nexudus booking integrations; CRM and go-to-market automations in n8n. Earlier: Get2Germany (Google APIs, n8n search tools), Clubee (API integration, QA), Qomodo (dashboards), Tractionboard (OpenAI, Sendgrid).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B2D31"/>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500" b="1" dirty="0">
                <a:solidFill>
                  <a:srgbClr val="FFFFFF"/>
                </a:solidFill>
                <a:latin typeface="Cambria" pitchFamily="34" charset="0"/>
                <a:ea typeface="Cambria" pitchFamily="34" charset="-122"/>
                <a:cs typeface="Cambria" pitchFamily="34" charset="-120"/>
              </a:rPr>
              <a:t>What I would do differently, and what I want to ask you</a:t>
            </a:r>
            <a:endParaRPr lang="en-US" sz="2500" dirty="0"/>
          </a:p>
        </p:txBody>
      </p:sp>
      <p:sp>
        <p:nvSpPr>
          <p:cNvPr id="3" name="Shape 1"/>
          <p:cNvSpPr/>
          <p:nvPr/>
        </p:nvSpPr>
        <p:spPr>
          <a:xfrm>
            <a:off x="457200" y="1051560"/>
            <a:ext cx="3977640" cy="3291840"/>
          </a:xfrm>
          <a:prstGeom prst="roundRect">
            <a:avLst>
              <a:gd name="adj" fmla="val 2222"/>
            </a:avLst>
          </a:prstGeom>
          <a:solidFill>
            <a:srgbClr val="3A3D44"/>
          </a:solidFill>
          <a:ln/>
        </p:spPr>
      </p:sp>
      <p:sp>
        <p:nvSpPr>
          <p:cNvPr id="4" name="Text 2"/>
          <p:cNvSpPr txBox="1"/>
          <p:nvPr/>
        </p:nvSpPr>
        <p:spPr>
          <a:xfrm>
            <a:off x="640080" y="1197864"/>
            <a:ext cx="361188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Would change</a:t>
            </a:r>
            <a:endParaRPr lang="en-US" sz="1400" dirty="0"/>
          </a:p>
        </p:txBody>
      </p:sp>
      <p:sp>
        <p:nvSpPr>
          <p:cNvPr id="5" name="Text 3"/>
          <p:cNvSpPr txBox="1"/>
          <p:nvPr/>
        </p:nvSpPr>
        <p:spPr>
          <a:xfrm>
            <a:off x="640080" y="1554480"/>
            <a:ext cx="3611880" cy="2651760"/>
          </a:xfrm>
          <a:prstGeom prst="rect">
            <a:avLst/>
          </a:prstGeom>
          <a:noFill/>
          <a:ln/>
        </p:spPr>
        <p:txBody>
          <a:bodyPr wrap="square" lIns="0" tIns="0" rIns="0" bIns="0" rtlCol="0" anchor="t"/>
          <a:lstStyle/>
          <a:p>
            <a:pPr algn="l" marL="342900" indent="-342900">
              <a:spcAft>
                <a:spcPts val="800"/>
              </a:spcAft>
              <a:buSzPct val="100000"/>
              <a:buChar char="•"/>
            </a:pPr>
            <a:r>
              <a:rPr lang="en-US" sz="1150" dirty="0">
                <a:solidFill>
                  <a:srgbClr val="E5E7EB"/>
                </a:solidFill>
                <a:latin typeface="Calibri" pitchFamily="34" charset="0"/>
                <a:ea typeface="Calibri" pitchFamily="34" charset="-122"/>
                <a:cs typeface="Calibri" pitchFamily="34" charset="-120"/>
              </a:rPr>
              <a:t>One store, not two. Listing rows in Neon and photos plus review sessions in Supabase grew from constraints, and every newcomer asks why.</a:t>
            </a:r>
            <a:endParaRPr lang="en-US" sz="1150" dirty="0"/>
          </a:p>
          <a:p>
            <a:pPr algn="l" marL="342900" indent="-342900">
              <a:spcAft>
                <a:spcPts val="800"/>
              </a:spcAft>
              <a:buSzPct val="100000"/>
              <a:buChar char="•"/>
            </a:pPr>
            <a:r>
              <a:rPr lang="en-US" sz="1150" dirty="0">
                <a:solidFill>
                  <a:srgbClr val="E5E7EB"/>
                </a:solidFill>
                <a:latin typeface="Calibri" pitchFamily="34" charset="0"/>
                <a:ea typeface="Calibri" pitchFamily="34" charset="-122"/>
                <a:cs typeface="Calibri" pitchFamily="34" charset="-120"/>
              </a:rPr>
              <a:t>The reverse check, prod against source, never shipped: the API searches names, not postcodes.</a:t>
            </a:r>
            <a:endParaRPr lang="en-US" sz="1150" dirty="0"/>
          </a:p>
          <a:p>
            <a:pPr algn="l" marL="342900" indent="-342900">
              <a:spcAft>
                <a:spcPts val="800"/>
              </a:spcAft>
              <a:buSzPct val="100000"/>
              <a:buChar char="•"/>
            </a:pPr>
            <a:r>
              <a:rPr lang="en-US" sz="1150" dirty="0">
                <a:solidFill>
                  <a:srgbClr val="E5E7EB"/>
                </a:solidFill>
                <a:latin typeface="Calibri" pitchFamily="34" charset="0"/>
                <a:ea typeface="Calibri" pitchFamily="34" charset="-122"/>
                <a:cs typeface="Calibri" pitchFamily="34" charset="-120"/>
              </a:rPr>
              <a:t>The correction log was built and never switched on, so the data to loosen the gates was never collected.</a:t>
            </a:r>
            <a:endParaRPr lang="en-US" sz="1150" dirty="0"/>
          </a:p>
          <a:p>
            <a:pPr algn="l" marL="342900" indent="-342900">
              <a:buSzPct val="100000"/>
              <a:buChar char="•"/>
            </a:pPr>
            <a:r>
              <a:rPr lang="en-US" sz="1150" dirty="0">
                <a:solidFill>
                  <a:srgbClr val="E5E7EB"/>
                </a:solidFill>
                <a:latin typeface="Calibri" pitchFamily="34" charset="0"/>
                <a:ea typeface="Calibri" pitchFamily="34" charset="-122"/>
                <a:cs typeface="Calibri" pitchFamily="34" charset="-120"/>
              </a:rPr>
              <a:t>114 live listings still carry an untyped tenure; fixing them is one admin edit each.</a:t>
            </a:r>
            <a:endParaRPr lang="en-US" sz="1150" dirty="0"/>
          </a:p>
        </p:txBody>
      </p:sp>
      <p:sp>
        <p:nvSpPr>
          <p:cNvPr id="6" name="Shape 4"/>
          <p:cNvSpPr/>
          <p:nvPr/>
        </p:nvSpPr>
        <p:spPr>
          <a:xfrm>
            <a:off x="4709160" y="1051560"/>
            <a:ext cx="3977640" cy="3291840"/>
          </a:xfrm>
          <a:prstGeom prst="roundRect">
            <a:avLst>
              <a:gd name="adj" fmla="val 2222"/>
            </a:avLst>
          </a:prstGeom>
          <a:solidFill>
            <a:srgbClr val="3A3D44"/>
          </a:solidFill>
          <a:ln/>
        </p:spPr>
      </p:sp>
      <p:sp>
        <p:nvSpPr>
          <p:cNvPr id="7" name="Text 5"/>
          <p:cNvSpPr txBox="1"/>
          <p:nvPr/>
        </p:nvSpPr>
        <p:spPr>
          <a:xfrm>
            <a:off x="4892040" y="1197864"/>
            <a:ext cx="361188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Questions for you</a:t>
            </a:r>
            <a:endParaRPr lang="en-US" sz="1400" dirty="0"/>
          </a:p>
        </p:txBody>
      </p:sp>
      <p:sp>
        <p:nvSpPr>
          <p:cNvPr id="8" name="Text 6"/>
          <p:cNvSpPr txBox="1"/>
          <p:nvPr/>
        </p:nvSpPr>
        <p:spPr>
          <a:xfrm>
            <a:off x="4892040" y="1554480"/>
            <a:ext cx="3611880" cy="2651760"/>
          </a:xfrm>
          <a:prstGeom prst="rect">
            <a:avLst/>
          </a:prstGeom>
          <a:noFill/>
          <a:ln/>
        </p:spPr>
        <p:txBody>
          <a:bodyPr wrap="square" lIns="0" tIns="0" rIns="0" bIns="0" rtlCol="0" anchor="t"/>
          <a:lstStyle/>
          <a:p>
            <a:pPr algn="l" marL="342900" indent="-342900">
              <a:spcAft>
                <a:spcPts val="1000"/>
              </a:spcAft>
              <a:buSzPct val="100000"/>
              <a:buChar char="•"/>
            </a:pPr>
            <a:r>
              <a:rPr lang="en-US" sz="1150" dirty="0">
                <a:solidFill>
                  <a:srgbClr val="E5E7EB"/>
                </a:solidFill>
                <a:latin typeface="Calibri" pitchFamily="34" charset="0"/>
                <a:ea typeface="Calibri" pitchFamily="34" charset="-122"/>
                <a:cs typeface="Calibri" pitchFamily="34" charset="-120"/>
              </a:rPr>
              <a:t>How does your portfolio code-intelligence agent answer “what of ours already does this”, and how often is it wrong?</a:t>
            </a:r>
            <a:endParaRPr lang="en-US" sz="1150" dirty="0"/>
          </a:p>
          <a:p>
            <a:pPr algn="l" marL="342900" indent="-342900">
              <a:spcAft>
                <a:spcPts val="1000"/>
              </a:spcAft>
              <a:buSzPct val="100000"/>
              <a:buChar char="•"/>
            </a:pPr>
            <a:r>
              <a:rPr lang="en-US" sz="1150" dirty="0">
                <a:solidFill>
                  <a:srgbClr val="E5E7EB"/>
                </a:solidFill>
                <a:latin typeface="Calibri" pitchFamily="34" charset="0"/>
                <a:ea typeface="Calibri" pitchFamily="34" charset="-122"/>
                <a:cs typeface="Calibri" pitchFamily="34" charset="-120"/>
              </a:rPr>
              <a:t>What is the MVP bar at handover, and what does the Tech Lab most often send back?</a:t>
            </a:r>
            <a:endParaRPr lang="en-US" sz="1150" dirty="0"/>
          </a:p>
          <a:p>
            <a:pPr algn="l" marL="342900" indent="-342900">
              <a:buSzPct val="100000"/>
              <a:buChar char="•"/>
            </a:pPr>
            <a:r>
              <a:rPr lang="en-US" sz="1150" dirty="0">
                <a:solidFill>
                  <a:srgbClr val="E5E7EB"/>
                </a:solidFill>
                <a:latin typeface="Calibri" pitchFamily="34" charset="0"/>
                <a:ea typeface="Calibri" pitchFamily="34" charset="-122"/>
                <a:cs typeface="Calibri" pitchFamily="34" charset="-120"/>
              </a:rPr>
              <a:t>How do you size a benefit in week one when nobody has measured the manual process?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t"/>
          <a:lstStyle/>
          <a:p>
            <a:pPr algn="l" indent="0" marL="0">
              <a:buNone/>
            </a:pPr>
            <a:r>
              <a:rPr lang="en-US" sz="2600" b="1" dirty="0">
                <a:solidFill>
                  <a:srgbClr val="1F2937"/>
                </a:solidFill>
                <a:latin typeface="Cambria" pitchFamily="34" charset="0"/>
                <a:ea typeface="Cambria" pitchFamily="34" charset="-122"/>
                <a:cs typeface="Cambria" pitchFamily="34" charset="-120"/>
              </a:rPr>
              <a:t>Appendix: numbers and where they come from</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5120640"/>
                <a:gridCol w="310896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Figure</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766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766E"/>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~30 feeds, 812 backlog buildings, 480 to draft, 134 update candidates, 445 drafted, 31 held back, 114 sent</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Handover pack README and STATE, 31 Jul 2026</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17 dead postcodes, house-number drift, 22 duplicate suite pairs</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Handover DEFECTS_FOR_TEAM</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916 rows = 821 buildings; 446 UPDATE / 375 NEW</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Backlog consolidation, 13 Aug 2026 (scripts/backlog-sessions.ts)</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143 commits, 8 Jul to 13 Aug 2026</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git log, flowspace-listing-web</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600+ tests, 20 parity checks, 77 seeded listings</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tests/ directory, PORT_LEDGER.md</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12 of 12 buildings, 65 photos verified</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Batch acceptance run, 29 Jul 2026 (Copthall workbook)</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550 drafts with a bad tenure value; 2,038 offices affected</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Handover STATE, pipeline bug 1</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720x405 vs up to 2560 px; revert commit aa06b05</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git show aa06b05, 22 Jul 2026</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900+ drafts; 30 to 45 min per listing by hand</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Consolidated backlog; my own estimate of the manual process</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2,000 to 4,500+ users; company dates and stacks</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My CV and experience record</a:t>
                      </a:r>
                      <a:endParaRPr lang="en-US" sz="1050" dirty="0">
                        <a:latin typeface="Calibri" charset="0"/>
                        <a:ea typeface="Calibri" charset="0"/>
                        <a:cs typeface="Calibri" charset="0"/>
                      </a:endParaRPr>
                    </a:p>
                  </a:txBody>
                  <a:tcPr marL="54864" marR="54864" marT="36576" marB="36576" anchor="t">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2026-09-16T11:52:17Z</dcterms:created>
  <dcterms:modified xsi:type="dcterms:W3CDTF">2026-09-16T11:52:17Z</dcterms:modified>
</cp:coreProperties>
</file>